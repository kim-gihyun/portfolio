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358" r:id="rId2"/>
    <p:sldId id="368" r:id="rId3"/>
    <p:sldId id="369" r:id="rId4"/>
    <p:sldId id="367" r:id="rId5"/>
    <p:sldId id="363" r:id="rId6"/>
    <p:sldId id="370" r:id="rId7"/>
    <p:sldId id="371" r:id="rId8"/>
    <p:sldId id="3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17" userDrawn="1">
          <p15:clr>
            <a:srgbClr val="A4A3A4"/>
          </p15:clr>
        </p15:guide>
        <p15:guide id="3" pos="7469" userDrawn="1">
          <p15:clr>
            <a:srgbClr val="A4A3A4"/>
          </p15:clr>
        </p15:guide>
        <p15:guide id="4" pos="241" userDrawn="1">
          <p15:clr>
            <a:srgbClr val="A4A3A4"/>
          </p15:clr>
        </p15:guide>
        <p15:guide id="5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55A"/>
    <a:srgbClr val="F94B16"/>
    <a:srgbClr val="E1633A"/>
    <a:srgbClr val="FFFFFF"/>
    <a:srgbClr val="95C11F"/>
    <a:srgbClr val="616365"/>
    <a:srgbClr val="9A9B9C"/>
    <a:srgbClr val="B4B391"/>
    <a:srgbClr val="60269E"/>
    <a:srgbClr val="C9B4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73900" autoAdjust="0"/>
  </p:normalViewPr>
  <p:slideViewPr>
    <p:cSldViewPr snapToGrid="0" showGuides="1">
      <p:cViewPr varScale="1">
        <p:scale>
          <a:sx n="85" d="100"/>
          <a:sy n="85" d="100"/>
        </p:scale>
        <p:origin x="64" y="84"/>
      </p:cViewPr>
      <p:guideLst>
        <p:guide pos="3817"/>
        <p:guide pos="7469"/>
        <p:guide pos="241"/>
        <p:guide orient="horz" pos="41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966"/>
    </p:cViewPr>
  </p:sorterViewPr>
  <p:notesViewPr>
    <p:cSldViewPr snapToGrid="0" showGuides="1">
      <p:cViewPr varScale="1">
        <p:scale>
          <a:sx n="75" d="100"/>
          <a:sy n="75" d="100"/>
        </p:scale>
        <p:origin x="2640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C81C51-17AA-47AA-B7B7-2E8F08BE48D6}" type="datetimeFigureOut">
              <a:rPr lang="en-GB" smtClean="0">
                <a:latin typeface="Arial" panose="020B0604020202020204" pitchFamily="34" charset="0"/>
              </a:rPr>
              <a:t>18/10/2026</a:t>
            </a:fld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DA8BD8-46DE-4F58-9902-C04E1C92746F}" type="slidenum">
              <a:rPr lang="en-GB" smtClean="0">
                <a:latin typeface="Arial" panose="020B0604020202020204" pitchFamily="34" charset="0"/>
              </a:rPr>
              <a:t>‹#›</a:t>
            </a:fld>
            <a:endParaRPr lang="en-GB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894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5D6684A-C933-4993-BBD4-9AA856FCDE2A}" type="datetimeFigureOut">
              <a:rPr lang="en-GB" smtClean="0"/>
              <a:pPr/>
              <a:t>18/10/2026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F53E38B7-0978-450B-BB12-98B37816CBF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8322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61BCE-46F6-18EF-C228-810764458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A3D2E8-CDD8-705F-A5F1-FD45DA57AA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41494A-9CD8-E8BF-7775-2C898AECA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D20AA-389C-6752-9C92-F613815694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3E38B7-0978-450B-BB12-98B37816CBF2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0112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61BCE-46F6-18EF-C228-810764458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A3D2E8-CDD8-705F-A5F1-FD45DA57AA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41494A-9CD8-E8BF-7775-2C898AECA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D20AA-389C-6752-9C92-F613815694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3E38B7-0978-450B-BB12-98B37816CBF2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0112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61BCE-46F6-18EF-C228-810764458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A3D2E8-CDD8-705F-A5F1-FD45DA57AA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41494A-9CD8-E8BF-7775-2C898AECA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D20AA-389C-6752-9C92-F613815694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3E38B7-0978-450B-BB12-98B37816CBF2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0112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3E38B7-0978-450B-BB12-98B37816CBF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3492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Purpl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06809" y="3730486"/>
            <a:ext cx="5713413" cy="1388752"/>
          </a:xfrm>
        </p:spPr>
        <p:txBody>
          <a:bodyPr/>
          <a:lstStyle>
            <a:lvl1pPr marL="0" indent="0" algn="l">
              <a:buNone/>
              <a:defRPr sz="28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6095365" y="5442767"/>
            <a:ext cx="5713413" cy="350453"/>
          </a:xfrm>
        </p:spPr>
        <p:txBody>
          <a:bodyPr/>
          <a:lstStyle>
            <a:lvl1pPr>
              <a:defRPr sz="2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rgbClr val="9A9B9C"/>
                </a:solidFill>
              </a:defRPr>
            </a:lvl2pPr>
            <a:lvl3pPr>
              <a:defRPr>
                <a:solidFill>
                  <a:srgbClr val="9A9B9C"/>
                </a:solidFill>
              </a:defRPr>
            </a:lvl3pPr>
            <a:lvl4pPr>
              <a:defRPr>
                <a:solidFill>
                  <a:srgbClr val="9A9B9C"/>
                </a:solidFill>
              </a:defRPr>
            </a:lvl4pPr>
            <a:lvl5pPr>
              <a:defRPr>
                <a:solidFill>
                  <a:srgbClr val="9A9B9C"/>
                </a:solidFill>
              </a:defRPr>
            </a:lvl5pPr>
          </a:lstStyle>
          <a:p>
            <a:pPr lvl="0"/>
            <a:r>
              <a:rPr lang="en-US" dirty="0"/>
              <a:t>Click to edit date / client details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DF7170C-11EE-40EF-91A6-CEF5BEC929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0" y="688022"/>
            <a:ext cx="5713413" cy="2387599"/>
          </a:xfrm>
        </p:spPr>
        <p:txBody>
          <a:bodyPr anchor="b"/>
          <a:lstStyle>
            <a:lvl1pPr algn="l">
              <a:defRPr sz="6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F3A5CEB-23F1-4AFF-BA34-EDF6885C3D0C}"/>
              </a:ext>
            </a:extLst>
          </p:cNvPr>
          <p:cNvSpPr txBox="1">
            <a:spLocks/>
          </p:cNvSpPr>
          <p:nvPr userDrawn="1"/>
        </p:nvSpPr>
        <p:spPr>
          <a:xfrm>
            <a:off x="543698" y="6264280"/>
            <a:ext cx="4667871" cy="193979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200" dirty="0"/>
              <a:t>Annual Laidlaw Scholars Conference 2026: Ambitious</a:t>
            </a:r>
          </a:p>
        </p:txBody>
      </p:sp>
      <p:pic>
        <p:nvPicPr>
          <p:cNvPr id="4" name="Picture 3" descr="A colorful flower design on a black background&#10;&#10;AI-generated content may be incorrect.">
            <a:extLst>
              <a:ext uri="{FF2B5EF4-FFF2-40B4-BE49-F238E27FC236}">
                <a16:creationId xmlns:a16="http://schemas.microsoft.com/office/drawing/2014/main" id="{CA283175-C61B-F6C0-ADE6-509535C222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29" y="1346305"/>
            <a:ext cx="3928408" cy="393678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774576-DAAF-4809-900E-51075781012B}"/>
              </a:ext>
            </a:extLst>
          </p:cNvPr>
          <p:cNvSpPr/>
          <p:nvPr userDrawn="1"/>
        </p:nvSpPr>
        <p:spPr>
          <a:xfrm>
            <a:off x="0" y="6660108"/>
            <a:ext cx="12192000" cy="19789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110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(Purp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06809" y="3730486"/>
            <a:ext cx="5713413" cy="1388752"/>
          </a:xfrm>
        </p:spPr>
        <p:txBody>
          <a:bodyPr/>
          <a:lstStyle>
            <a:lvl1pPr marL="0" indent="0" algn="l">
              <a:buNone/>
              <a:defRPr sz="2800" b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6095365" y="5442767"/>
            <a:ext cx="5713413" cy="350453"/>
          </a:xfrm>
        </p:spPr>
        <p:txBody>
          <a:bodyPr/>
          <a:lstStyle>
            <a:lvl1pPr>
              <a:defRPr sz="2200" b="0">
                <a:solidFill>
                  <a:schemeClr val="accent1"/>
                </a:solidFill>
                <a:latin typeface="+mj-lt"/>
              </a:defRPr>
            </a:lvl1pPr>
            <a:lvl2pPr>
              <a:defRPr>
                <a:solidFill>
                  <a:srgbClr val="9A9B9C"/>
                </a:solidFill>
              </a:defRPr>
            </a:lvl2pPr>
            <a:lvl3pPr>
              <a:defRPr>
                <a:solidFill>
                  <a:srgbClr val="9A9B9C"/>
                </a:solidFill>
              </a:defRPr>
            </a:lvl3pPr>
            <a:lvl4pPr>
              <a:defRPr>
                <a:solidFill>
                  <a:srgbClr val="9A9B9C"/>
                </a:solidFill>
              </a:defRPr>
            </a:lvl4pPr>
            <a:lvl5pPr>
              <a:defRPr>
                <a:solidFill>
                  <a:srgbClr val="9A9B9C"/>
                </a:solidFill>
              </a:defRPr>
            </a:lvl5pPr>
          </a:lstStyle>
          <a:p>
            <a:pPr lvl="0"/>
            <a:r>
              <a:rPr lang="en-US" dirty="0"/>
              <a:t>Click to edit date / client details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DF7170C-11EE-40EF-91A6-CEF5BEC929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0" y="688022"/>
            <a:ext cx="5713413" cy="2387599"/>
          </a:xfrm>
        </p:spPr>
        <p:txBody>
          <a:bodyPr anchor="b"/>
          <a:lstStyle>
            <a:lvl1pPr algn="l">
              <a:defRPr sz="6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1F297-1339-711D-3B9D-833F397F258C}"/>
              </a:ext>
            </a:extLst>
          </p:cNvPr>
          <p:cNvSpPr/>
          <p:nvPr userDrawn="1"/>
        </p:nvSpPr>
        <p:spPr>
          <a:xfrm>
            <a:off x="0" y="6660108"/>
            <a:ext cx="12192000" cy="19789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EAA4871-EF1A-4036-3524-0B41DF5BA003}"/>
              </a:ext>
            </a:extLst>
          </p:cNvPr>
          <p:cNvSpPr txBox="1">
            <a:spLocks/>
          </p:cNvSpPr>
          <p:nvPr userDrawn="1"/>
        </p:nvSpPr>
        <p:spPr>
          <a:xfrm>
            <a:off x="543698" y="6264280"/>
            <a:ext cx="4667871" cy="193979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200" dirty="0"/>
              <a:t>Annual Laidlaw Scholars Conference 2026: Ambitious</a:t>
            </a:r>
          </a:p>
        </p:txBody>
      </p:sp>
      <p:pic>
        <p:nvPicPr>
          <p:cNvPr id="12" name="Picture 11" descr="A colorful flower design on a black background&#10;&#10;AI-generated content may be incorrect.">
            <a:extLst>
              <a:ext uri="{FF2B5EF4-FFF2-40B4-BE49-F238E27FC236}">
                <a16:creationId xmlns:a16="http://schemas.microsoft.com/office/drawing/2014/main" id="{C7F40C32-F125-3FF1-4D8D-C2B5DBF53D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29" y="1346304"/>
            <a:ext cx="3928408" cy="393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318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E6B4914-94C5-435D-8BA0-E945BEF31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18BE0F6-8282-41EF-8D07-0C8C4089C0E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988" y="1916114"/>
            <a:ext cx="11401425" cy="39417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FF2B7CFA-D0C1-E1D7-3782-613168195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3063" y="6272666"/>
            <a:ext cx="4948452" cy="262712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Annual Laidlaw Scholars Conference 2026: Ambitious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0D9402D1-893E-AC45-C606-2EAAD84E70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4910" y="6272665"/>
            <a:ext cx="594784" cy="26271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accent6"/>
                </a:solidFill>
              </a:defRPr>
            </a:lvl1pPr>
          </a:lstStyle>
          <a:p>
            <a:fld id="{F47C38A6-411E-4AB3-AA9A-88D68F1DC9B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4539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E6B4914-94C5-435D-8BA0-E945BEF31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37CB3F9-1606-4B8D-B4D3-33E77BCD3A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988" y="1894114"/>
            <a:ext cx="11376024" cy="4006624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F65DA6F-04DC-E736-2970-08CFB1705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3063" y="6272666"/>
            <a:ext cx="4948452" cy="262712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Annual Laidlaw Scholars Conference 2026: Ambitious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06E62736-E4A6-2594-6FED-A6EB949EC8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4910" y="6272665"/>
            <a:ext cx="594784" cy="26271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accent6"/>
                </a:solidFill>
              </a:defRPr>
            </a:lvl1pPr>
          </a:lstStyle>
          <a:p>
            <a:fld id="{F47C38A6-411E-4AB3-AA9A-88D68F1DC9B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2832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E6B4914-94C5-435D-8BA0-E945BEF31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Chart Placeholder 7">
            <a:extLst>
              <a:ext uri="{FF2B5EF4-FFF2-40B4-BE49-F238E27FC236}">
                <a16:creationId xmlns:a16="http://schemas.microsoft.com/office/drawing/2014/main" id="{420F6FB1-0633-4D04-9AD0-C1619A74DD9B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07988" y="1861457"/>
            <a:ext cx="11409362" cy="3996418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446446-8086-2DFF-BE41-FD5C4F6F2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3063" y="6272666"/>
            <a:ext cx="4948452" cy="262712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Annual Laidlaw Scholars Conference 2026: Ambitious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796BC8E0-62A4-B528-282C-3A3FBC707E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4910" y="6272665"/>
            <a:ext cx="594784" cy="26271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accent6"/>
                </a:solidFill>
              </a:defRPr>
            </a:lvl1pPr>
          </a:lstStyle>
          <a:p>
            <a:fld id="{F47C38A6-411E-4AB3-AA9A-88D68F1DC9B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1415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Purpl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C2DA5202-3ECE-4CA2-ACA3-DF939D2EA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06809" y="3730486"/>
            <a:ext cx="5713413" cy="1388752"/>
          </a:xfrm>
        </p:spPr>
        <p:txBody>
          <a:bodyPr/>
          <a:lstStyle>
            <a:lvl1pPr marL="0" indent="0" algn="l">
              <a:buNone/>
              <a:defRPr sz="28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8" name="Title 7">
            <a:extLst>
              <a:ext uri="{FF2B5EF4-FFF2-40B4-BE49-F238E27FC236}">
                <a16:creationId xmlns:a16="http://schemas.microsoft.com/office/drawing/2014/main" id="{E3227596-F3CC-4AAF-BB39-EBBC1BDAC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672003"/>
            <a:ext cx="5687999" cy="2389852"/>
          </a:xfrm>
        </p:spPr>
        <p:txBody>
          <a:bodyPr anchor="b"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119B69-2DD4-5EF4-8B73-FBF7C37D7383}"/>
              </a:ext>
            </a:extLst>
          </p:cNvPr>
          <p:cNvSpPr txBox="1"/>
          <p:nvPr userDrawn="1"/>
        </p:nvSpPr>
        <p:spPr>
          <a:xfrm>
            <a:off x="4552950" y="8096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US" sz="11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87F1AE3-564C-61AE-6B02-360BD83AC904}"/>
              </a:ext>
            </a:extLst>
          </p:cNvPr>
          <p:cNvSpPr txBox="1">
            <a:spLocks/>
          </p:cNvSpPr>
          <p:nvPr userDrawn="1"/>
        </p:nvSpPr>
        <p:spPr>
          <a:xfrm>
            <a:off x="543698" y="6264280"/>
            <a:ext cx="4667871" cy="193979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200" dirty="0"/>
              <a:t>Annual Laidlaw Scholars Conference 2026: Ambitious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926A0A-D05A-C300-FB41-B7C358DD8D38}"/>
              </a:ext>
            </a:extLst>
          </p:cNvPr>
          <p:cNvSpPr/>
          <p:nvPr userDrawn="1"/>
        </p:nvSpPr>
        <p:spPr>
          <a:xfrm>
            <a:off x="0" y="6660108"/>
            <a:ext cx="12192000" cy="19789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olorful flower design on a black background&#10;&#10;AI-generated content may be incorrect.">
            <a:extLst>
              <a:ext uri="{FF2B5EF4-FFF2-40B4-BE49-F238E27FC236}">
                <a16:creationId xmlns:a16="http://schemas.microsoft.com/office/drawing/2014/main" id="{3A54FD5E-E667-7415-74E4-EC7FD8B069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29" y="1346304"/>
            <a:ext cx="3928408" cy="393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07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(Purp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C2DA5202-3ECE-4CA2-ACA3-DF939D2EA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06809" y="3730486"/>
            <a:ext cx="5713413" cy="1388752"/>
          </a:xfrm>
        </p:spPr>
        <p:txBody>
          <a:bodyPr/>
          <a:lstStyle>
            <a:lvl1pPr marL="0" indent="0" algn="l">
              <a:buNone/>
              <a:defRPr sz="2800" b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8" name="Title 7">
            <a:extLst>
              <a:ext uri="{FF2B5EF4-FFF2-40B4-BE49-F238E27FC236}">
                <a16:creationId xmlns:a16="http://schemas.microsoft.com/office/drawing/2014/main" id="{E3227596-F3CC-4AAF-BB39-EBBC1BDAC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672003"/>
            <a:ext cx="5687999" cy="2389852"/>
          </a:xfrm>
        </p:spPr>
        <p:txBody>
          <a:bodyPr anchor="b"/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119B69-2DD4-5EF4-8B73-FBF7C37D7383}"/>
              </a:ext>
            </a:extLst>
          </p:cNvPr>
          <p:cNvSpPr txBox="1"/>
          <p:nvPr userDrawn="1"/>
        </p:nvSpPr>
        <p:spPr>
          <a:xfrm>
            <a:off x="4552950" y="8096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US" sz="11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87F1AE3-564C-61AE-6B02-360BD83AC904}"/>
              </a:ext>
            </a:extLst>
          </p:cNvPr>
          <p:cNvSpPr txBox="1">
            <a:spLocks/>
          </p:cNvSpPr>
          <p:nvPr userDrawn="1"/>
        </p:nvSpPr>
        <p:spPr>
          <a:xfrm>
            <a:off x="543698" y="6264280"/>
            <a:ext cx="4667871" cy="193979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200" dirty="0"/>
              <a:t>Annual Laidlaw Scholars Conference 2026: Ambitious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926A0A-D05A-C300-FB41-B7C358DD8D38}"/>
              </a:ext>
            </a:extLst>
          </p:cNvPr>
          <p:cNvSpPr/>
          <p:nvPr userDrawn="1"/>
        </p:nvSpPr>
        <p:spPr>
          <a:xfrm>
            <a:off x="0" y="6660108"/>
            <a:ext cx="12192000" cy="19789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olorful flower design on a black background&#10;&#10;AI-generated content may be incorrect.">
            <a:extLst>
              <a:ext uri="{FF2B5EF4-FFF2-40B4-BE49-F238E27FC236}">
                <a16:creationId xmlns:a16="http://schemas.microsoft.com/office/drawing/2014/main" id="{3A54FD5E-E667-7415-74E4-EC7FD8B069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29" y="1346304"/>
            <a:ext cx="3928408" cy="39367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23E5DD-3202-CFA9-6A60-BC8DA980A2D2}"/>
              </a:ext>
            </a:extLst>
          </p:cNvPr>
          <p:cNvSpPr txBox="1"/>
          <p:nvPr userDrawn="1"/>
        </p:nvSpPr>
        <p:spPr>
          <a:xfrm>
            <a:off x="8343900" y="-138792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US" sz="1100" dirty="0">
              <a:solidFill>
                <a:schemeClr val="accent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27895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3"/>
          </p:nvPr>
        </p:nvSpPr>
        <p:spPr>
          <a:xfrm>
            <a:off x="373916" y="1828800"/>
            <a:ext cx="4356000" cy="1994049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00A9C8-3916-4897-B710-C15C8C21F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8D46E24D-CE74-4E5A-90C2-B98C0E0586D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834286" y="1828800"/>
            <a:ext cx="4356000" cy="1994049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A395F4DE-7C38-4F9C-9EF3-F0BDB370860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294657" y="1828800"/>
            <a:ext cx="2506085" cy="1994049"/>
          </a:xfrm>
        </p:spPr>
        <p:txBody>
          <a:bodyPr/>
          <a:lstStyle>
            <a:lvl1pPr rtl="0">
              <a:defRPr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41616F06-59F0-4C36-8331-3193134DF8B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82588" y="3949550"/>
            <a:ext cx="2506085" cy="1994049"/>
          </a:xfrm>
        </p:spPr>
        <p:txBody>
          <a:bodyPr/>
          <a:lstStyle>
            <a:lvl1pPr rtl="0"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0" name="Picture Placeholder 15">
            <a:extLst>
              <a:ext uri="{FF2B5EF4-FFF2-40B4-BE49-F238E27FC236}">
                <a16:creationId xmlns:a16="http://schemas.microsoft.com/office/drawing/2014/main" id="{3058DCF1-FD9E-470A-8404-8B81736A423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01713" y="3949550"/>
            <a:ext cx="4356000" cy="1994049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229F558A-2D3B-47D2-A3A6-16FB7180777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453412" y="3949550"/>
            <a:ext cx="4356000" cy="1994049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1674E40-8FA0-85D0-9F62-56A138586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3063" y="6272666"/>
            <a:ext cx="4948452" cy="262712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Annual Laidlaw Scholars Conference 2026: Ambitious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819737F9-4E88-8D47-7735-4D077CAD4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4910" y="6272665"/>
            <a:ext cx="594784" cy="26271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accent6"/>
                </a:solidFill>
              </a:defRPr>
            </a:lvl1pPr>
          </a:lstStyle>
          <a:p>
            <a:fld id="{F47C38A6-411E-4AB3-AA9A-88D68F1DC9B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1489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0A9C8-3916-4897-B710-C15C8C21F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9360991C-41D7-4DFC-8DF6-996D5DF6541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82588" y="1959430"/>
            <a:ext cx="4356101" cy="1928509"/>
          </a:xfrm>
          <a:solidFill>
            <a:schemeClr val="accent5"/>
          </a:solidFill>
        </p:spPr>
        <p:txBody>
          <a:bodyPr lIns="108000" tIns="180000" rIns="108000"/>
          <a:lstStyle>
            <a:lvl1pPr>
              <a:lnSpc>
                <a:spcPct val="100000"/>
              </a:lnSpc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4F992B16-BE87-4244-9F0A-C2034126611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847293" y="1959430"/>
            <a:ext cx="4356101" cy="1928509"/>
          </a:xfrm>
          <a:solidFill>
            <a:schemeClr val="accent1"/>
          </a:solidFill>
        </p:spPr>
        <p:txBody>
          <a:bodyPr lIns="108000" tIns="180000" rIns="108000"/>
          <a:lstStyle>
            <a:lvl1pPr>
              <a:lnSpc>
                <a:spcPct val="100000"/>
              </a:lnSpc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AED1888-D4E1-4F0F-922F-ACC3C7E5C33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11998" y="1959430"/>
            <a:ext cx="2506085" cy="1928509"/>
          </a:xfrm>
          <a:solidFill>
            <a:schemeClr val="tx2"/>
          </a:solidFill>
        </p:spPr>
        <p:txBody>
          <a:bodyPr lIns="108000" tIns="180000" rIns="108000"/>
          <a:lstStyle>
            <a:lvl1pPr>
              <a:lnSpc>
                <a:spcPct val="100000"/>
              </a:lnSpc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748C927E-7F50-4DB2-BCEE-F7DC7937033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82588" y="3992406"/>
            <a:ext cx="2506085" cy="1928509"/>
          </a:xfrm>
          <a:solidFill>
            <a:schemeClr val="accent1"/>
          </a:solidFill>
        </p:spPr>
        <p:txBody>
          <a:bodyPr lIns="108000" tIns="180000" rIns="108000"/>
          <a:lstStyle>
            <a:lvl1pPr>
              <a:lnSpc>
                <a:spcPct val="100000"/>
              </a:lnSpc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BCFDAF3A-901A-4AC9-99DE-5AB5D7044D4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992992" y="4003165"/>
            <a:ext cx="4356101" cy="1928509"/>
          </a:xfrm>
          <a:solidFill>
            <a:schemeClr val="tx2"/>
          </a:solidFill>
        </p:spPr>
        <p:txBody>
          <a:bodyPr lIns="108000" tIns="180000" rIns="108000"/>
          <a:lstStyle>
            <a:lvl1pPr>
              <a:lnSpc>
                <a:spcPct val="100000"/>
              </a:lnSpc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43952A35-BAAB-4A17-B7B3-3A9F271A2B7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453412" y="4003165"/>
            <a:ext cx="4356101" cy="1928509"/>
          </a:xfrm>
          <a:solidFill>
            <a:schemeClr val="accent5"/>
          </a:solidFill>
        </p:spPr>
        <p:txBody>
          <a:bodyPr lIns="108000" tIns="180000" rIns="108000"/>
          <a:lstStyle>
            <a:lvl1pPr>
              <a:lnSpc>
                <a:spcPct val="100000"/>
              </a:lnSpc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79FDA77-3CB6-AF9A-5A92-894FDD750F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3063" y="6272666"/>
            <a:ext cx="4948452" cy="262712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Annual Laidlaw Scholars Conference 2026: Ambitious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FD11E6C4-95B8-F128-1B54-AF852222C3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4910" y="6272665"/>
            <a:ext cx="594784" cy="26271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accent6"/>
                </a:solidFill>
              </a:defRPr>
            </a:lvl1pPr>
          </a:lstStyle>
          <a:p>
            <a:fld id="{F47C38A6-411E-4AB3-AA9A-88D68F1DC9B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8434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62D5DC-1CE7-45FA-A48D-271DD8CA5A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74650" y="969962"/>
            <a:ext cx="11426825" cy="4918075"/>
          </a:xfrm>
        </p:spPr>
        <p:txBody>
          <a:bodyPr anchor="ctr"/>
          <a:lstStyle>
            <a:lvl1pPr algn="ctr">
              <a:defRPr sz="36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DD2CE15-79A7-5DD7-995B-C8C1AA6AE8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3063" y="6272666"/>
            <a:ext cx="4948452" cy="262712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Annual Laidlaw Scholars Conference 2026: Ambitious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19F095C6-D65C-4753-7247-E78071D4DE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4910" y="6272665"/>
            <a:ext cx="594784" cy="26271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accent6"/>
                </a:solidFill>
              </a:defRPr>
            </a:lvl1pPr>
          </a:lstStyle>
          <a:p>
            <a:fld id="{F47C38A6-411E-4AB3-AA9A-88D68F1DC9B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0679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3117" y="1916114"/>
            <a:ext cx="5616000" cy="4060143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 marL="648000" marR="0" indent="-288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_"/>
              <a:tabLst/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884" y="1916114"/>
            <a:ext cx="5616000" cy="4060144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 marL="648000" marR="0" indent="-288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_"/>
              <a:tabLst/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A6D4D86E-BEC4-7863-C3A5-E797018CBF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3063" y="6272666"/>
            <a:ext cx="4948452" cy="262712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Annual Laidlaw Scholars Conference 2026: Ambitious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63E1E9B5-AF77-0E6C-C38E-68E27D9B0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4910" y="6272665"/>
            <a:ext cx="594784" cy="26271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accent6"/>
                </a:solidFill>
              </a:defRPr>
            </a:lvl1pPr>
          </a:lstStyle>
          <a:p>
            <a:fld id="{F47C38A6-411E-4AB3-AA9A-88D68F1DC9B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65311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AEAF86C5-243A-431C-994A-BED4EC3F7BF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449388"/>
            <a:ext cx="6096000" cy="5408612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8DEAAD-F91A-40D1-848E-12B2097A3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7DC82580-537C-4BCE-B5F0-4505557FF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2884" y="1916113"/>
            <a:ext cx="5616000" cy="424973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 marL="648000" marR="0" indent="-288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_"/>
              <a:tabLst/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265ADED-2CD0-657E-5D86-0352846415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2884" y="6272666"/>
            <a:ext cx="4948452" cy="262712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Annual Laidlaw Scholars Conference 2026: Ambitious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9764A53F-D03B-34CA-23A6-FF9BBD2B0E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4910" y="6272665"/>
            <a:ext cx="594784" cy="26271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accent6"/>
                </a:solidFill>
              </a:defRPr>
            </a:lvl1pPr>
          </a:lstStyle>
          <a:p>
            <a:fld id="{F47C38A6-411E-4AB3-AA9A-88D68F1DC9B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08835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117" y="1599724"/>
            <a:ext cx="5614459" cy="504000"/>
          </a:xfrm>
        </p:spPr>
        <p:txBody>
          <a:bodyPr anchor="t"/>
          <a:lstStyle>
            <a:lvl1pPr marL="0" indent="0">
              <a:buNone/>
              <a:defRPr sz="28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3117" y="2305054"/>
            <a:ext cx="5614459" cy="3654876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 baseline="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599724"/>
            <a:ext cx="5616000" cy="504000"/>
          </a:xfrm>
        </p:spPr>
        <p:txBody>
          <a:bodyPr anchor="t"/>
          <a:lstStyle>
            <a:lvl1pPr marL="0" indent="0">
              <a:buNone/>
              <a:defRPr sz="28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305054"/>
            <a:ext cx="5616000" cy="3654876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A26A34-4751-421A-A1F3-2F9A2E10F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0F8A2E9-0797-88B6-E19C-10F2A6C3B0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633063" y="6272666"/>
            <a:ext cx="4948452" cy="262712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Annual Laidlaw Scholars Conference 2026: Ambitious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C0F9441F-AFC7-A9E7-10CB-FA3D1C28D8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14910" y="6272665"/>
            <a:ext cx="594784" cy="26271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accent6"/>
                </a:solidFill>
              </a:defRPr>
            </a:lvl1pPr>
          </a:lstStyle>
          <a:p>
            <a:fld id="{F47C38A6-411E-4AB3-AA9A-88D68F1DC9B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4281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+ Free 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9C4B820-BEE9-4878-BECC-344D64E4E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F28B34A6-6EAA-DEE1-27DF-565602FA2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3063" y="6272666"/>
            <a:ext cx="4948452" cy="262712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Annual Laidlaw Scholars Conference 2026: Ambitious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EEDB742-C990-D7BE-1AFF-4EDC2BFCC4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4910" y="6272665"/>
            <a:ext cx="594784" cy="26271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accent6"/>
                </a:solidFill>
              </a:defRPr>
            </a:lvl1pPr>
          </a:lstStyle>
          <a:p>
            <a:fld id="{F47C38A6-411E-4AB3-AA9A-88D68F1DC9B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6785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55A87-F2C3-0713-5E44-E99C091C12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3063" y="6272666"/>
            <a:ext cx="4948452" cy="262712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Annual Laidlaw Scholars Conference 2026: Ambitious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161D9-AF52-E20C-63F6-17314EF02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4910" y="6272665"/>
            <a:ext cx="594784" cy="26271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accent6"/>
                </a:solidFill>
              </a:defRPr>
            </a:lvl1pPr>
          </a:lstStyle>
          <a:p>
            <a:fld id="{F47C38A6-411E-4AB3-AA9A-88D68F1DC9B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33413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8A8D47-0101-779D-8D19-633C684AA76F}"/>
              </a:ext>
            </a:extLst>
          </p:cNvPr>
          <p:cNvSpPr/>
          <p:nvPr userDrawn="1"/>
        </p:nvSpPr>
        <p:spPr>
          <a:xfrm>
            <a:off x="0" y="6660108"/>
            <a:ext cx="12192000" cy="19789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422AAF-8FD4-5391-3240-C9187DF844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" r="785"/>
          <a:stretch/>
        </p:blipFill>
        <p:spPr>
          <a:xfrm>
            <a:off x="405695" y="6103781"/>
            <a:ext cx="1446909" cy="396369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D453528-5153-6863-2731-0FDB569C19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3063" y="6272666"/>
            <a:ext cx="4948452" cy="262712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Annual Laidlaw Scholars Conference 2026: Ambitious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7BD57190-7C79-1392-1526-F4014D8A69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4910" y="6272665"/>
            <a:ext cx="594784" cy="26271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accent6"/>
                </a:solidFill>
              </a:defRPr>
            </a:lvl1pPr>
          </a:lstStyle>
          <a:p>
            <a:fld id="{F47C38A6-411E-4AB3-AA9A-88D68F1DC9B3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4" name="Picture 13" descr="A colorful flower on a black background&#10;&#10;AI-generated content may be incorrect.">
            <a:extLst>
              <a:ext uri="{FF2B5EF4-FFF2-40B4-BE49-F238E27FC236}">
                <a16:creationId xmlns:a16="http://schemas.microsoft.com/office/drawing/2014/main" id="{FC8EC283-BA9E-745B-B534-4C3020AE3D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6692" y="0"/>
            <a:ext cx="2175308" cy="217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6691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30870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Relationship Id="rId2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695" y="1916114"/>
            <a:ext cx="11403189" cy="40225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001" y="620562"/>
            <a:ext cx="9882411" cy="6373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7" name="Picture 6" descr="A colorful flower on a black background&#10;&#10;AI-generated content may be incorrect.">
            <a:extLst>
              <a:ext uri="{FF2B5EF4-FFF2-40B4-BE49-F238E27FC236}">
                <a16:creationId xmlns:a16="http://schemas.microsoft.com/office/drawing/2014/main" id="{ECCB60CF-1F59-D9AD-15C9-AC05DBC2D45D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6692" y="0"/>
            <a:ext cx="2175308" cy="217530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CC2DA30-F742-4631-5842-2C539A3F141B}"/>
              </a:ext>
            </a:extLst>
          </p:cNvPr>
          <p:cNvSpPr/>
          <p:nvPr userDrawn="1"/>
        </p:nvSpPr>
        <p:spPr>
          <a:xfrm>
            <a:off x="0" y="6660108"/>
            <a:ext cx="12192000" cy="1978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7BF63269-9E55-B5B4-E14A-B01834CAD69C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2" t="25194" r="10507" b="24004"/>
          <a:stretch>
            <a:fillRect/>
          </a:stretch>
        </p:blipFill>
        <p:spPr>
          <a:xfrm>
            <a:off x="405695" y="6103781"/>
            <a:ext cx="1446909" cy="396369"/>
          </a:xfrm>
          <a:prstGeom prst="rect">
            <a:avLst/>
          </a:prstGeom>
        </p:spPr>
      </p:pic>
      <p:sp>
        <p:nvSpPr>
          <p:cNvPr id="27" name="Footer Placeholder 3">
            <a:extLst>
              <a:ext uri="{FF2B5EF4-FFF2-40B4-BE49-F238E27FC236}">
                <a16:creationId xmlns:a16="http://schemas.microsoft.com/office/drawing/2014/main" id="{DF062BB8-E982-8263-BB90-7136A03F08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3063" y="6297562"/>
            <a:ext cx="4948452" cy="262712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Annual Laidlaw Scholars Conference 2026: Ambitious</a:t>
            </a:r>
          </a:p>
        </p:txBody>
      </p:sp>
      <p:sp>
        <p:nvSpPr>
          <p:cNvPr id="28" name="Slide Number Placeholder 4">
            <a:extLst>
              <a:ext uri="{FF2B5EF4-FFF2-40B4-BE49-F238E27FC236}">
                <a16:creationId xmlns:a16="http://schemas.microsoft.com/office/drawing/2014/main" id="{33C9623D-AD2F-12B4-1DEC-90254799D4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4910" y="6272665"/>
            <a:ext cx="594784" cy="26271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accent6"/>
                </a:solidFill>
              </a:defRPr>
            </a:lvl1pPr>
          </a:lstStyle>
          <a:p>
            <a:fld id="{F47C38A6-411E-4AB3-AA9A-88D68F1DC9B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BE1A6D-A6D8-2E86-E52A-3A0BFFB5E4E0}"/>
              </a:ext>
            </a:extLst>
          </p:cNvPr>
          <p:cNvSpPr txBox="1"/>
          <p:nvPr userDrawn="1"/>
        </p:nvSpPr>
        <p:spPr>
          <a:xfrm>
            <a:off x="9063318" y="63066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US" sz="1100" dirty="0">
              <a:solidFill>
                <a:schemeClr val="accent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19921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715" r:id="rId2"/>
    <p:sldLayoutId id="2147483710" r:id="rId3"/>
    <p:sldLayoutId id="2147483711" r:id="rId4"/>
    <p:sldLayoutId id="2147483712" r:id="rId5"/>
    <p:sldLayoutId id="2147483663" r:id="rId6"/>
    <p:sldLayoutId id="2147483716" r:id="rId7"/>
    <p:sldLayoutId id="2147483701" r:id="rId8"/>
    <p:sldLayoutId id="2147483714" r:id="rId9"/>
    <p:sldLayoutId id="2147483713" r:id="rId10"/>
    <p:sldLayoutId id="2147483664" r:id="rId11"/>
    <p:sldLayoutId id="2147483703" r:id="rId12"/>
    <p:sldLayoutId id="2147483665" r:id="rId13"/>
    <p:sldLayoutId id="2147483672" r:id="rId14"/>
    <p:sldLayoutId id="2147483667" r:id="rId15"/>
    <p:sldLayoutId id="2147483694" r:id="rId16"/>
    <p:sldLayoutId id="2147483717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2800"/>
        </a:spcBef>
        <a:buFont typeface="Arial" panose="020B0604020202020204" pitchFamily="34" charset="0"/>
        <a:buNone/>
        <a:defRPr sz="28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288000" indent="-288000" algn="l" defTabSz="914400" rtl="0" eaLnBrk="1" latinLnBrk="0" hangingPunct="1">
        <a:lnSpc>
          <a:spcPct val="100000"/>
        </a:lnSpc>
        <a:spcBef>
          <a:spcPts val="2400"/>
        </a:spcBef>
        <a:buSzPct val="100000"/>
        <a:buFont typeface="Wingdings" panose="05000000000000000000" pitchFamily="2" charset="2"/>
        <a:buChar char="§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288000" indent="-288000" algn="l" defTabSz="914400" rtl="0" eaLnBrk="1" latinLnBrk="0" hangingPunct="1">
        <a:lnSpc>
          <a:spcPct val="100000"/>
        </a:lnSpc>
        <a:spcBef>
          <a:spcPts val="1800"/>
        </a:spcBef>
        <a:buClr>
          <a:schemeClr val="tx1"/>
        </a:buClr>
        <a:buFont typeface="Arial" panose="020B0604020202020204" pitchFamily="34" charset="0"/>
        <a:buChar char="_"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648000" indent="-288000" algn="l" defTabSz="914400" rtl="0" eaLnBrk="1" latinLnBrk="0" hangingPunct="1">
        <a:lnSpc>
          <a:spcPct val="100000"/>
        </a:lnSpc>
        <a:spcBef>
          <a:spcPts val="1800"/>
        </a:spcBef>
        <a:buClr>
          <a:schemeClr val="tx1"/>
        </a:buClr>
        <a:buFont typeface="Wingdings" panose="05000000000000000000" pitchFamily="2" charset="2"/>
        <a:buChar char="§"/>
        <a:defRPr sz="2000" b="0" kern="1200">
          <a:solidFill>
            <a:schemeClr val="accent1"/>
          </a:solidFill>
          <a:latin typeface="+mj-lt"/>
          <a:ea typeface="+mn-ea"/>
          <a:cs typeface="+mn-cs"/>
        </a:defRPr>
      </a:lvl4pPr>
      <a:lvl5pPr marL="648000" indent="-288000" algn="l" defTabSz="914400" rtl="0" eaLnBrk="1" latinLnBrk="0" hangingPunct="1">
        <a:lnSpc>
          <a:spcPct val="100000"/>
        </a:lnSpc>
        <a:spcBef>
          <a:spcPts val="1800"/>
        </a:spcBef>
        <a:buFont typeface="Arial" panose="020B0604020202020204" pitchFamily="34" charset="0"/>
        <a:buChar char="_"/>
        <a:tabLst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69875" indent="-269875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_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447675" indent="-1778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77" userDrawn="1">
          <p15:clr>
            <a:srgbClr val="F26B43"/>
          </p15:clr>
        </p15:guide>
        <p15:guide id="2" orient="horz" pos="4201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241" userDrawn="1">
          <p15:clr>
            <a:srgbClr val="F26B43"/>
          </p15:clr>
        </p15:guide>
        <p15:guide id="5" pos="7439" userDrawn="1">
          <p15:clr>
            <a:srgbClr val="F26B43"/>
          </p15:clr>
        </p15:guide>
        <p15:guide id="6" orient="horz" pos="3884" userDrawn="1">
          <p15:clr>
            <a:srgbClr val="F26B43"/>
          </p15:clr>
        </p15:guide>
        <p15:guide id="7" orient="horz" pos="120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4.jpg"/></Relationships>
</file>

<file path=ppt/slides/_rels/slide5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3CDD1-F08B-BC04-6BBD-DC0F5B7A0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F267211-54AD-85DA-E0E5-483FE39A4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08192" y="3913632"/>
            <a:ext cx="5715000" cy="221284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lang="en-GB" sz="2800" b="1" dirty="0">
                <a:solidFill>
                  <a:srgbClr val="FFFFFF"/>
                </a:solidFill>
              </a:rPr>
              <a:t>Using Drones for Smarter Wind Energy Decisions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endParaRPr lang="en-GB" sz="1000" b="1" dirty="0">
              <a:solidFill>
                <a:srgbClr val="FFFFFF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FFFFFF"/>
                </a:solidFill>
              </a:rPr>
              <a:t>Gihyun Kim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FFFFFF"/>
                </a:solidFill>
              </a:rPr>
              <a:t>The University of Hong Kong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FFFFFF"/>
                </a:solidFill>
              </a:rPr>
              <a:t>ghkim1106@connect.hku.hk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FB7C7A-E7D4-76EB-8D83-D6CF1E7D0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1259522"/>
            <a:ext cx="5713413" cy="2387599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GB" dirty="0">
                <a:solidFill>
                  <a:srgbClr val="FFFFFF"/>
                </a:solidFill>
              </a:rPr>
              <a:t>Mapping the Wind</a:t>
            </a:r>
          </a:p>
        </p:txBody>
      </p:sp>
    </p:spTree>
    <p:extLst>
      <p:ext uri="{BB962C8B-B14F-4D97-AF65-F5344CB8AC3E}">
        <p14:creationId xmlns:p14="http://schemas.microsoft.com/office/powerpoint/2010/main" val="2984860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 Data Drives Critical Decisions</a:t>
            </a:r>
            <a:endParaRPr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60C6D37B-4698-2E4F-429E-B8C85BECB8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3063" y="6272666"/>
            <a:ext cx="4948452" cy="262712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Annual Laidlaw Scholars Conference 2026: Ambitious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91C200A1-E5DD-A48A-DAAD-E32A6B586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4910" y="6272665"/>
            <a:ext cx="594784" cy="26271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accent6"/>
                </a:solidFill>
              </a:defRPr>
            </a:lvl1pPr>
          </a:lstStyle>
          <a:p>
            <a:fld id="{F47C38A6-411E-4AB3-AA9A-88D68F1DC9B3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15" name="TextBox 14"/>
          <p:cNvSpPr txBox="1"/>
          <p:nvPr/>
        </p:nvSpPr>
        <p:spPr>
          <a:xfrm>
            <a:off x="395477" y="274320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21135F"/>
                </a:solidFill>
                <a:latin typeface="Arial"/>
              </a:rPr>
              <a:t>Wind turbines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52978" y="274320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21135F"/>
                </a:solidFill>
                <a:latin typeface="Arial"/>
              </a:rPr>
              <a:t>Weather masts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0478" y="274320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21135F"/>
                </a:solidFill>
                <a:latin typeface="Arial"/>
              </a:rPr>
              <a:t>Tall buildings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7978" y="274320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21135F"/>
                </a:solidFill>
                <a:latin typeface="Arial"/>
              </a:rPr>
              <a:t>Drones &amp; aviation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3566160"/>
            <a:ext cx="91440" cy="1280160"/>
          </a:xfrm>
          <a:prstGeom prst="rect">
            <a:avLst/>
          </a:prstGeom>
          <a:solidFill>
            <a:srgbClr val="D50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3520440"/>
            <a:ext cx="5394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D50071"/>
                </a:solidFill>
                <a:latin typeface="Arial"/>
              </a:rPr>
              <a:t>1,299 GW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B2B3A"/>
                </a:solidFill>
                <a:latin typeface="Arial"/>
              </a:rPr>
              <a:t>of wind power installed worldwide, with 165 GW added in 2025 alone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3566160"/>
            <a:ext cx="91440" cy="1280160"/>
          </a:xfrm>
          <a:prstGeom prst="rect">
            <a:avLst/>
          </a:prstGeom>
          <a:solidFill>
            <a:srgbClr val="922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088" y="3520440"/>
            <a:ext cx="5394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9226B2"/>
                </a:solidFill>
                <a:latin typeface="Arial"/>
              </a:rPr>
              <a:t>10% → 33%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B2B3A"/>
                </a:solidFill>
                <a:latin typeface="Arial"/>
              </a:rPr>
              <a:t>a 10% error in wind speed becomes a ~33% error in turbine power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5029200"/>
            <a:ext cx="11430000" cy="685800"/>
          </a:xfrm>
          <a:prstGeom prst="rect">
            <a:avLst/>
          </a:prstGeom>
          <a:solidFill>
            <a:srgbClr val="211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400"/>
              </a:spcAft>
            </a:pPr>
            <a:r>
              <a:rPr lang="en-US" sz="2400" b="1" dirty="0"/>
              <a:t>Reliable decisions depend on accurate wind measurement</a:t>
            </a:r>
            <a:endParaRPr sz="24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84048" y="5815584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E6E7A"/>
                </a:solidFill>
                <a:latin typeface="Arial"/>
              </a:rPr>
              <a:t>Sources: GWEC, Global Wind Report 2026. Turbine power scales with wind speed cubed (1.1³ ≈ 1.33).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25C5E-8086-6338-D560-266A3B74E939}"/>
              </a:ext>
            </a:extLst>
          </p:cNvPr>
          <p:cNvSpPr txBox="1"/>
          <p:nvPr/>
        </p:nvSpPr>
        <p:spPr>
          <a:xfrm>
            <a:off x="395477" y="3127248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100" b="0" i="0" dirty="0">
                <a:solidFill>
                  <a:srgbClr val="6E6E7A"/>
                </a:solidFill>
                <a:effectLst/>
                <a:latin typeface="+mn-lt"/>
              </a:rPr>
              <a:t>(Chu &amp; MIT News Office, 2022)</a:t>
            </a:r>
            <a:endParaRPr lang="en-US" dirty="0"/>
          </a:p>
        </p:txBody>
      </p:sp>
      <p:pic>
        <p:nvPicPr>
          <p:cNvPr id="5" name="Picture 4" descr="Row of wind turbines on a hilltop at sunset">
            <a:extLst>
              <a:ext uri="{FF2B5EF4-FFF2-40B4-BE49-F238E27FC236}">
                <a16:creationId xmlns:a16="http://schemas.microsoft.com/office/drawing/2014/main" id="{68F8824D-30EF-289F-15FF-178B31C140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821" b="9821"/>
          <a:stretch>
            <a:fillRect/>
          </a:stretch>
        </p:blipFill>
        <p:spPr>
          <a:xfrm>
            <a:off x="532638" y="1298448"/>
            <a:ext cx="2560320" cy="1371600"/>
          </a:xfrm>
          <a:prstGeom prst="rect">
            <a:avLst/>
          </a:prstGeom>
        </p:spPr>
      </p:pic>
      <p:pic>
        <p:nvPicPr>
          <p:cNvPr id="6" name="Picture 5" descr="Tall red and white lattice weather mast against a blue sky">
            <a:extLst>
              <a:ext uri="{FF2B5EF4-FFF2-40B4-BE49-F238E27FC236}">
                <a16:creationId xmlns:a16="http://schemas.microsoft.com/office/drawing/2014/main" id="{C7883EB5-A074-93BB-42B6-1BA313A60E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286" b="14286"/>
          <a:stretch>
            <a:fillRect/>
          </a:stretch>
        </p:blipFill>
        <p:spPr>
          <a:xfrm>
            <a:off x="3390138" y="1298448"/>
            <a:ext cx="2560320" cy="1371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FE06AD-6458-67C1-7200-3F03ABAAECF7}"/>
              </a:ext>
            </a:extLst>
          </p:cNvPr>
          <p:cNvSpPr txBox="1"/>
          <p:nvPr/>
        </p:nvSpPr>
        <p:spPr>
          <a:xfrm>
            <a:off x="3252978" y="3127248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100" b="0" i="0" dirty="0">
                <a:solidFill>
                  <a:srgbClr val="6E6E7A"/>
                </a:solidFill>
                <a:effectLst/>
                <a:latin typeface="+mn-lt"/>
              </a:rPr>
              <a:t>(Froese, 2017)</a:t>
            </a:r>
            <a:endParaRPr lang="en-US" dirty="0"/>
          </a:p>
        </p:txBody>
      </p:sp>
      <p:pic>
        <p:nvPicPr>
          <p:cNvPr id="9" name="Picture 8" descr="Hong Kong skyline of high-rise buildings across Victoria Harbour">
            <a:extLst>
              <a:ext uri="{FF2B5EF4-FFF2-40B4-BE49-F238E27FC236}">
                <a16:creationId xmlns:a16="http://schemas.microsoft.com/office/drawing/2014/main" id="{AB8167A1-4865-94B1-263A-E3406D5CA1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95" b="2395"/>
          <a:stretch>
            <a:fillRect/>
          </a:stretch>
        </p:blipFill>
        <p:spPr>
          <a:xfrm>
            <a:off x="6247638" y="1298448"/>
            <a:ext cx="2560320" cy="13716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B321CDD-08AA-CBAF-697B-E8219CEA609A}"/>
              </a:ext>
            </a:extLst>
          </p:cNvPr>
          <p:cNvSpPr txBox="1"/>
          <p:nvPr/>
        </p:nvSpPr>
        <p:spPr>
          <a:xfrm>
            <a:off x="6110478" y="3127248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100" b="0" i="0" dirty="0">
                <a:solidFill>
                  <a:srgbClr val="6E6E7A"/>
                </a:solidFill>
                <a:effectLst/>
                <a:latin typeface="+mn-lt"/>
              </a:rPr>
              <a:t>(Cheung, 2025)</a:t>
            </a:r>
            <a:endParaRPr lang="en-US" dirty="0"/>
          </a:p>
        </p:txBody>
      </p:sp>
      <p:pic>
        <p:nvPicPr>
          <p:cNvPr id="32" name="Picture 31" descr="Small grey quadcopter drone hovering in the air">
            <a:extLst>
              <a:ext uri="{FF2B5EF4-FFF2-40B4-BE49-F238E27FC236}">
                <a16:creationId xmlns:a16="http://schemas.microsoft.com/office/drawing/2014/main" id="{3630959F-3A4A-D497-47E8-C9A5B4EFF25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88" b="2388"/>
          <a:stretch>
            <a:fillRect/>
          </a:stretch>
        </p:blipFill>
        <p:spPr>
          <a:xfrm>
            <a:off x="9105138" y="1298448"/>
            <a:ext cx="2560320" cy="13716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B149096-0AE1-8CAB-4A73-52C1805CD525}"/>
              </a:ext>
            </a:extLst>
          </p:cNvPr>
          <p:cNvSpPr txBox="1"/>
          <p:nvPr/>
        </p:nvSpPr>
        <p:spPr>
          <a:xfrm>
            <a:off x="8967978" y="3127248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100" b="0" i="0" dirty="0">
                <a:solidFill>
                  <a:srgbClr val="6E6E7A"/>
                </a:solidFill>
                <a:effectLst/>
                <a:latin typeface="+mn-lt"/>
              </a:rPr>
              <a:t>(Juniper, 2022)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60C6D37B-4698-2E4F-429E-B8C85BECB8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3063" y="6272666"/>
            <a:ext cx="4948452" cy="262712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Annual Laidlaw Scholars Conference 2026: Ambitious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91C200A1-E5DD-A48A-DAAD-E32A6B586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4910" y="6272665"/>
            <a:ext cx="594784" cy="26271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accent6"/>
                </a:solidFill>
              </a:defRPr>
            </a:lvl1pPr>
          </a:lstStyle>
          <a:p>
            <a:fld id="{F47C38A6-411E-4AB3-AA9A-88D68F1DC9B3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13" name="Oval 12"/>
          <p:cNvSpPr/>
          <p:nvPr/>
        </p:nvSpPr>
        <p:spPr>
          <a:xfrm>
            <a:off x="1248155" y="1325880"/>
            <a:ext cx="960120" cy="960120"/>
          </a:xfrm>
          <a:prstGeom prst="ellipse">
            <a:avLst/>
          </a:prstGeom>
          <a:solidFill>
            <a:srgbClr val="211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Weather mast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971" y="1450695"/>
            <a:ext cx="710488" cy="7104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4048" y="2395728"/>
            <a:ext cx="2697480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21135F"/>
                </a:solidFill>
                <a:latin typeface="Arial"/>
              </a:rPr>
              <a:t>Weather masts</a:t>
            </a:r>
          </a:p>
          <a:p>
            <a:pPr algn="ctr">
              <a:spcAft>
                <a:spcPts val="400"/>
              </a:spcAft>
            </a:pPr>
            <a:r>
              <a:rPr sz="2200" b="0">
                <a:solidFill>
                  <a:srgbClr val="2B2B3A"/>
                </a:solidFill>
                <a:latin typeface="Arial"/>
              </a:rPr>
              <a:t>Accurate, but fixed in one place</a:t>
            </a:r>
          </a:p>
          <a:p>
            <a:pPr algn="ctr">
              <a:spcAft>
                <a:spcPts val="400"/>
              </a:spcAft>
            </a:pPr>
            <a:r>
              <a:rPr sz="2200" b="1">
                <a:solidFill>
                  <a:srgbClr val="21135F"/>
                </a:solidFill>
                <a:latin typeface="Arial"/>
              </a:rPr>
              <a:t>€1–5 m per offshore mast</a:t>
            </a:r>
          </a:p>
        </p:txBody>
      </p:sp>
      <p:sp>
        <p:nvSpPr>
          <p:cNvPr id="16" name="Oval 15"/>
          <p:cNvSpPr/>
          <p:nvPr/>
        </p:nvSpPr>
        <p:spPr>
          <a:xfrm>
            <a:off x="4128515" y="1325880"/>
            <a:ext cx="960120" cy="960120"/>
          </a:xfrm>
          <a:prstGeom prst="ellipse">
            <a:avLst/>
          </a:prstGeom>
          <a:solidFill>
            <a:srgbClr val="009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Lidar &amp; soda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3331" y="1450695"/>
            <a:ext cx="710488" cy="7104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264408" y="2395728"/>
            <a:ext cx="2697480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dirty="0">
                <a:solidFill>
                  <a:srgbClr val="009483"/>
                </a:solidFill>
                <a:latin typeface="Arial"/>
              </a:rPr>
              <a:t>Lidar &amp; sodar</a:t>
            </a:r>
          </a:p>
          <a:p>
            <a:pPr algn="ctr">
              <a:spcAft>
                <a:spcPts val="400"/>
              </a:spcAft>
            </a:pPr>
            <a:r>
              <a:rPr lang="en-US" sz="2200" b="0" dirty="0">
                <a:solidFill>
                  <a:srgbClr val="2B2B3A"/>
                </a:solidFill>
                <a:latin typeface="Arial"/>
              </a:rPr>
              <a:t>B</a:t>
            </a:r>
            <a:r>
              <a:rPr sz="2200" b="0" dirty="0">
                <a:solidFill>
                  <a:srgbClr val="2B2B3A"/>
                </a:solidFill>
                <a:latin typeface="Arial"/>
              </a:rPr>
              <a:t>lurs sharp changes near the ground</a:t>
            </a:r>
          </a:p>
        </p:txBody>
      </p:sp>
      <p:sp>
        <p:nvSpPr>
          <p:cNvPr id="19" name="Oval 18"/>
          <p:cNvSpPr/>
          <p:nvPr/>
        </p:nvSpPr>
        <p:spPr>
          <a:xfrm>
            <a:off x="7008875" y="1325880"/>
            <a:ext cx="960120" cy="960120"/>
          </a:xfrm>
          <a:prstGeom prst="ellipse">
            <a:avLst/>
          </a:prstGeom>
          <a:solidFill>
            <a:srgbClr val="922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Large drone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3691" y="1450695"/>
            <a:ext cx="710488" cy="7104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144768" y="2395728"/>
            <a:ext cx="2697480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dirty="0">
                <a:solidFill>
                  <a:srgbClr val="9226B2"/>
                </a:solidFill>
                <a:latin typeface="Arial"/>
              </a:rPr>
              <a:t>Large drones</a:t>
            </a:r>
          </a:p>
          <a:p>
            <a:pPr algn="ctr">
              <a:spcAft>
                <a:spcPts val="400"/>
              </a:spcAft>
            </a:pPr>
            <a:r>
              <a:rPr sz="2200" b="0" dirty="0">
                <a:solidFill>
                  <a:srgbClr val="2B2B3A"/>
                </a:solidFill>
                <a:latin typeface="Arial"/>
              </a:rPr>
              <a:t>Accurate, but heavy and costly</a:t>
            </a:r>
          </a:p>
          <a:p>
            <a:pPr algn="ctr">
              <a:spcAft>
                <a:spcPts val="400"/>
              </a:spcAft>
            </a:pPr>
            <a:r>
              <a:rPr sz="2200" b="1" dirty="0">
                <a:solidFill>
                  <a:srgbClr val="9226B2"/>
                </a:solidFill>
                <a:latin typeface="Arial"/>
              </a:rPr>
              <a:t>5–30 kg aircraft</a:t>
            </a:r>
          </a:p>
        </p:txBody>
      </p:sp>
      <p:sp>
        <p:nvSpPr>
          <p:cNvPr id="22" name="Oval 21"/>
          <p:cNvSpPr/>
          <p:nvPr/>
        </p:nvSpPr>
        <p:spPr>
          <a:xfrm>
            <a:off x="9889236" y="1325880"/>
            <a:ext cx="960120" cy="960120"/>
          </a:xfrm>
          <a:prstGeom prst="ellipse">
            <a:avLst/>
          </a:prstGeom>
          <a:solidFill>
            <a:srgbClr val="D50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Small drones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4051" y="1450695"/>
            <a:ext cx="710488" cy="7104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025128" y="2395728"/>
            <a:ext cx="2697480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D50071"/>
                </a:solidFill>
                <a:latin typeface="Arial"/>
              </a:rPr>
              <a:t>Small drones</a:t>
            </a:r>
          </a:p>
          <a:p>
            <a:pPr algn="ctr">
              <a:spcAft>
                <a:spcPts val="400"/>
              </a:spcAft>
            </a:pPr>
            <a:r>
              <a:rPr sz="2200" b="0">
                <a:solidFill>
                  <a:srgbClr val="2B2B3A"/>
                </a:solidFill>
                <a:latin typeface="Arial"/>
              </a:rPr>
              <a:t>Portable, but propeller air disturbs readings</a:t>
            </a:r>
          </a:p>
          <a:p>
            <a:pPr algn="ctr">
              <a:spcAft>
                <a:spcPts val="400"/>
              </a:spcAft>
            </a:pPr>
            <a:r>
              <a:rPr sz="2200" b="1">
                <a:solidFill>
                  <a:srgbClr val="D50071"/>
                </a:solidFill>
                <a:latin typeface="Arial"/>
              </a:rPr>
              <a:t>&gt;1.3 m/s error in sharp gusts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029200"/>
            <a:ext cx="11430000" cy="685800"/>
          </a:xfrm>
          <a:prstGeom prst="rect">
            <a:avLst/>
          </a:prstGeom>
          <a:solidFill>
            <a:srgbClr val="D50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400"/>
              </a:spcAft>
            </a:pPr>
            <a:r>
              <a:rPr sz="2400" b="1" dirty="0">
                <a:solidFill>
                  <a:srgbClr val="FFFFFF"/>
                </a:solidFill>
                <a:latin typeface="Arial"/>
              </a:rPr>
              <a:t>Research question: can a small, </a:t>
            </a:r>
            <a:r>
              <a:rPr lang="en-US" sz="2400" b="1" dirty="0">
                <a:solidFill>
                  <a:srgbClr val="FFFFFF"/>
                </a:solidFill>
                <a:latin typeface="Arial"/>
              </a:rPr>
              <a:t>commercial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drone measure wind reliably?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5815584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E6E7A"/>
                </a:solidFill>
                <a:latin typeface="Arial"/>
              </a:rPr>
              <a:t>Sources: EWEA, Wind Energy – The Facts; Yang et al. 2025; Sriyasawin et al. 2024; Kistner et al. 2024, Atmos. Meas. Tech. 17, 4941.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7098099-7559-4641-89DB-0DEEA499A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  <a:endParaRPr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0DFCE3E-737E-47A4-98FD-EBE6AD281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4048" y="1600200"/>
            <a:ext cx="5577840" cy="866274"/>
          </a:xfrm>
        </p:spPr>
        <p:txBody>
          <a:bodyPr>
            <a:noAutofit/>
          </a:bodyPr>
          <a:lstStyle/>
          <a:p>
            <a:pPr>
              <a:spcAft>
                <a:spcPts val="1400"/>
              </a:spcAft>
            </a:pPr>
            <a:r>
              <a:rPr lang="en-GB" sz="2800" dirty="0"/>
              <a:t>A wind sensor mounted on a short rod above a commercial drone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9DFE520-180A-0DE7-A4D4-8121120394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3063" y="6272666"/>
            <a:ext cx="4948452" cy="262712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Annual Laidlaw Scholars Conference 2026: Ambitious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0FB41A7-EC76-FE8C-55AB-EE9A6EDFBA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4910" y="6272665"/>
            <a:ext cx="594784" cy="26271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accent6"/>
                </a:solidFill>
              </a:defRPr>
            </a:lvl1pPr>
          </a:lstStyle>
          <a:p>
            <a:fld id="{F47C38A6-411E-4AB3-AA9A-88D68F1DC9B3}" type="slidenum">
              <a:rPr lang="en-GB" smtClean="0"/>
              <a:pPr/>
              <a:t>4</a:t>
            </a:fld>
            <a:endParaRPr lang="en-GB" dirty="0"/>
          </a:p>
        </p:txBody>
      </p:sp>
      <p:pic>
        <p:nvPicPr>
          <p:cNvPr id="84" name="Google Shape;84;p1" descr="Render of the sensor package: anemometer on a carbon-fibre rod above a circuit board, with a separate battery"/>
          <p:cNvPicPr preferRelativeResize="0"/>
          <p:nvPr/>
        </p:nvPicPr>
        <p:blipFill rotWithShape="1">
          <a:blip r:embed="rId3">
            <a:alphaModFix/>
          </a:blip>
          <a:srcRect l="41861" t="5054" r="30284" b="3784"/>
          <a:stretch/>
        </p:blipFill>
        <p:spPr>
          <a:xfrm>
            <a:off x="6192885" y="932155"/>
            <a:ext cx="2168718" cy="541679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8128000" y="1162551"/>
            <a:ext cx="17830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Anemometer</a:t>
            </a:r>
            <a:endParaRPr sz="1600" dirty="0"/>
          </a:p>
        </p:txBody>
      </p:sp>
      <p:sp>
        <p:nvSpPr>
          <p:cNvPr id="90" name="Google Shape;90;p1"/>
          <p:cNvSpPr txBox="1"/>
          <p:nvPr/>
        </p:nvSpPr>
        <p:spPr>
          <a:xfrm>
            <a:off x="8128000" y="2788747"/>
            <a:ext cx="2468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Carbon Fiber Rod</a:t>
            </a:r>
            <a:endParaRPr sz="1600" dirty="0"/>
          </a:p>
        </p:txBody>
      </p:sp>
      <p:sp>
        <p:nvSpPr>
          <p:cNvPr id="91" name="Google Shape;91;p1"/>
          <p:cNvSpPr txBox="1"/>
          <p:nvPr/>
        </p:nvSpPr>
        <p:spPr>
          <a:xfrm>
            <a:off x="8128000" y="3517227"/>
            <a:ext cx="1549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Logger</a:t>
            </a:r>
            <a:endParaRPr sz="1600" dirty="0"/>
          </a:p>
        </p:txBody>
      </p:sp>
      <p:sp>
        <p:nvSpPr>
          <p:cNvPr id="92" name="Google Shape;92;p1"/>
          <p:cNvSpPr txBox="1"/>
          <p:nvPr/>
        </p:nvSpPr>
        <p:spPr>
          <a:xfrm>
            <a:off x="8128000" y="5359385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Battery</a:t>
            </a:r>
            <a:endParaRPr sz="1600"/>
          </a:p>
        </p:txBody>
      </p:sp>
      <p:cxnSp>
        <p:nvCxnSpPr>
          <p:cNvPr id="95" name="Google Shape;95;p1"/>
          <p:cNvCxnSpPr>
            <a:cxnSpLocks/>
            <a:stCxn id="89" idx="1"/>
          </p:cNvCxnSpPr>
          <p:nvPr/>
        </p:nvCxnSpPr>
        <p:spPr>
          <a:xfrm flipH="1">
            <a:off x="7523480" y="1383327"/>
            <a:ext cx="490220" cy="104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6" name="Google Shape;96;p1"/>
          <p:cNvCxnSpPr>
            <a:cxnSpLocks/>
            <a:stCxn id="90" idx="1"/>
          </p:cNvCxnSpPr>
          <p:nvPr/>
        </p:nvCxnSpPr>
        <p:spPr>
          <a:xfrm flipH="1">
            <a:off x="7344409" y="3009523"/>
            <a:ext cx="669290" cy="1115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" name="Google Shape;97;p1"/>
          <p:cNvCxnSpPr>
            <a:cxnSpLocks/>
            <a:stCxn id="91" idx="1"/>
          </p:cNvCxnSpPr>
          <p:nvPr/>
        </p:nvCxnSpPr>
        <p:spPr>
          <a:xfrm flipH="1">
            <a:off x="7754319" y="3726777"/>
            <a:ext cx="373681" cy="44642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8" name="Google Shape;98;p1"/>
          <p:cNvCxnSpPr>
            <a:cxnSpLocks/>
            <a:stCxn id="92" idx="1"/>
          </p:cNvCxnSpPr>
          <p:nvPr/>
        </p:nvCxnSpPr>
        <p:spPr>
          <a:xfrm flipH="1">
            <a:off x="7785100" y="5580161"/>
            <a:ext cx="228600" cy="5001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5" name="Google Shape;86;p1" descr="Photo of the sensor package mounted on the DJI Mavic 3E quadcopter">
            <a:extLst>
              <a:ext uri="{FF2B5EF4-FFF2-40B4-BE49-F238E27FC236}">
                <a16:creationId xmlns:a16="http://schemas.microsoft.com/office/drawing/2014/main" id="{89CC56EA-9DDF-BE95-F1EC-AAF4C1BAD9B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2246" t="17987" r="3896" b="37862"/>
          <a:stretch/>
        </p:blipFill>
        <p:spPr>
          <a:xfrm>
            <a:off x="9779000" y="3835400"/>
            <a:ext cx="1917700" cy="2184400"/>
          </a:xfrm>
          <a:prstGeom prst="roundRect">
            <a:avLst>
              <a:gd name="adj" fmla="val 9075"/>
            </a:avLst>
          </a:prstGeom>
          <a:noFill/>
          <a:ln w="19050">
            <a:solidFill>
              <a:schemeClr val="tx2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9EB82B-D631-9B56-4F53-713304E56219}"/>
              </a:ext>
            </a:extLst>
          </p:cNvPr>
          <p:cNvSpPr txBox="1"/>
          <p:nvPr/>
        </p:nvSpPr>
        <p:spPr>
          <a:xfrm>
            <a:off x="399362" y="2822095"/>
            <a:ext cx="567922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Font typeface="Wingdings" panose="05000000000000000000" pitchFamily="2" charset="2"/>
              <a:buChar char="§"/>
            </a:pPr>
            <a:r>
              <a:rPr lang="en-GB" sz="2400" b="1" dirty="0"/>
              <a:t>Indoor tests (still air): </a:t>
            </a:r>
            <a:r>
              <a:rPr lang="en-GB" sz="2400" dirty="0"/>
              <a:t>rod lengths compared to find the optimal sensor position</a:t>
            </a:r>
          </a:p>
          <a:p>
            <a:pPr marL="342900" lvl="1" indent="-342900"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Font typeface="Wingdings" panose="05000000000000000000" pitchFamily="2" charset="2"/>
              <a:buChar char="§"/>
            </a:pPr>
            <a:r>
              <a:rPr lang="en-GB" sz="2400" b="1" dirty="0"/>
              <a:t>Outdoor flights: </a:t>
            </a:r>
            <a:r>
              <a:rPr lang="en-GB" sz="2400" dirty="0"/>
              <a:t>hovers at six heights up to 120 m, in the morning and afternoon</a:t>
            </a:r>
          </a:p>
        </p:txBody>
      </p:sp>
    </p:spTree>
    <p:extLst>
      <p:ext uri="{BB962C8B-B14F-4D97-AF65-F5344CB8AC3E}">
        <p14:creationId xmlns:p14="http://schemas.microsoft.com/office/powerpoint/2010/main" val="1963726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D9D9B6A2-F63E-4DA2-A1FB-5187F2505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70" name="Number 1"/>
          <p:cNvSpPr/>
          <p:nvPr/>
        </p:nvSpPr>
        <p:spPr>
          <a:xfrm>
            <a:off x="3063240" y="5120640"/>
            <a:ext cx="365760" cy="365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0" name="Finding 1"/>
          <p:cNvSpPr txBox="1"/>
          <p:nvPr/>
        </p:nvSpPr>
        <p:spPr>
          <a:xfrm>
            <a:off x="3566160" y="5074920"/>
            <a:ext cx="338327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400"/>
              </a:spcAft>
            </a:pPr>
            <a:r>
              <a:rPr lang="en-US" sz="2000" b="1" dirty="0">
                <a:solidFill>
                  <a:schemeClr val="accent1"/>
                </a:solidFill>
              </a:rPr>
              <a:t>Rod Length Testing Results</a:t>
            </a:r>
            <a:endParaRPr lang="en-GB" sz="2400" b="1" dirty="0">
              <a:solidFill>
                <a:schemeClr val="accent1"/>
              </a:solidFill>
            </a:endParaRPr>
          </a:p>
        </p:txBody>
      </p:sp>
      <p:pic>
        <p:nvPicPr>
          <p:cNvPr id="61" name="Finding chart 2" descr="Chart of wind speed against height for the 10 am and 3 pm flights, from 20 m to 120 m"/>
          <p:cNvPicPr>
            <a:picLocks noChangeAspect="1"/>
          </p:cNvPicPr>
          <p:nvPr/>
        </p:nvPicPr>
        <p:blipFill>
          <a:blip r:embed="rId5"/>
          <a:srcRect l="3936" t="1570" r="2622" b="2617"/>
          <a:stretch>
            <a:fillRect/>
          </a:stretch>
        </p:blipFill>
        <p:spPr>
          <a:xfrm>
            <a:off x="7818120" y="1371600"/>
            <a:ext cx="3931920" cy="3559462"/>
          </a:xfrm>
          <a:prstGeom prst="rect">
            <a:avLst/>
          </a:prstGeom>
        </p:spPr>
      </p:pic>
      <p:sp>
        <p:nvSpPr>
          <p:cNvPr id="71" name="Number 2"/>
          <p:cNvSpPr/>
          <p:nvPr/>
        </p:nvSpPr>
        <p:spPr>
          <a:xfrm>
            <a:off x="7909560" y="5120640"/>
            <a:ext cx="365760" cy="36576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1" name="Finding 2"/>
          <p:cNvSpPr txBox="1"/>
          <p:nvPr/>
        </p:nvSpPr>
        <p:spPr>
          <a:xfrm>
            <a:off x="8412480" y="5074920"/>
            <a:ext cx="338327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400"/>
              </a:spcAft>
            </a:pPr>
            <a:r>
              <a:rPr lang="en-GB" sz="2000" b="1" dirty="0">
                <a:solidFill>
                  <a:schemeClr val="accent1"/>
                </a:solidFill>
              </a:rPr>
              <a:t>Outdoor Wind Testing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4B91EBE-759D-13D6-3A01-E6A4FBCFB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3063" y="6272666"/>
            <a:ext cx="4948452" cy="262712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Annual Laidlaw Scholars Conference 2026: Ambitious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02D36C8F-F380-13DF-E1CD-5D1DB9A879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4910" y="6272665"/>
            <a:ext cx="594784" cy="26271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accent6"/>
                </a:solidFill>
              </a:defRPr>
            </a:lvl1pPr>
          </a:lstStyle>
          <a:p>
            <a:fld id="{F47C38A6-411E-4AB3-AA9A-88D68F1DC9B3}" type="slidenum">
              <a:rPr lang="en-GB" smtClean="0"/>
              <a:pPr/>
              <a:t>5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B9A83D-FFBE-32D1-AEB6-4AEE91F08095}"/>
              </a:ext>
            </a:extLst>
          </p:cNvPr>
          <p:cNvCxnSpPr/>
          <p:nvPr/>
        </p:nvCxnSpPr>
        <p:spPr>
          <a:xfrm>
            <a:off x="7315200" y="1371600"/>
            <a:ext cx="0" cy="4206240"/>
          </a:xfrm>
          <a:prstGeom prst="line">
            <a:avLst/>
          </a:prstGeom>
          <a:ln w="19050" cap="flat" cmpd="sng" algn="ctr">
            <a:solidFill>
              <a:srgbClr val="26255A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" name="Picture 8" descr="Chart of measurement error against rod length. The 17.5 cm rod gives the lowest error; the 30 cm rod was unstable; the propellers-off baseline is 0.076 m/s.">
            <a:extLst>
              <a:ext uri="{FF2B5EF4-FFF2-40B4-BE49-F238E27FC236}">
                <a16:creationId xmlns:a16="http://schemas.microsoft.com/office/drawing/2014/main" id="{CCE90800-A240-7335-1641-EDE7047D379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371600"/>
            <a:ext cx="3931920" cy="3559462"/>
          </a:xfrm>
          <a:prstGeom prst="rect">
            <a:avLst/>
          </a:prstGeom>
        </p:spPr>
      </p:pic>
      <p:pic>
        <p:nvPicPr>
          <p:cNvPr id="6" name="20260819_154534" descr="Video of the drone with the wind sensor on a rod taking off from the ground">
            <a:hlinkClick r:id="" action="ppaction://media"/>
            <a:extLst>
              <a:ext uri="{FF2B5EF4-FFF2-40B4-BE49-F238E27FC236}">
                <a16:creationId xmlns:a16="http://schemas.microsoft.com/office/drawing/2014/main" id="{116607A3-2397-FFDF-7D3C-3B95721AA85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>
                  <p14:fade in="175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11480" y="1371600"/>
            <a:ext cx="2134552" cy="379476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411480" y="5138928"/>
            <a:ext cx="213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dirty="0">
                <a:solidFill>
                  <a:srgbClr val="6E6E7A"/>
                </a:solidFill>
                <a:latin typeface="Arial"/>
              </a:rPr>
              <a:t>Test flight</a:t>
            </a:r>
          </a:p>
        </p:txBody>
      </p:sp>
    </p:spTree>
    <p:extLst>
      <p:ext uri="{BB962C8B-B14F-4D97-AF65-F5344CB8AC3E}">
        <p14:creationId xmlns:p14="http://schemas.microsoft.com/office/powerpoint/2010/main" val="2452533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74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60C6D37B-4698-2E4F-429E-B8C85BECB8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3063" y="6272666"/>
            <a:ext cx="4948452" cy="262712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Annual Laidlaw Scholars Conference 2026: Ambitious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91C200A1-E5DD-A48A-DAAD-E32A6B586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4910" y="6272665"/>
            <a:ext cx="594784" cy="26271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accent6"/>
                </a:solidFill>
              </a:defRPr>
            </a:lvl1pPr>
          </a:lstStyle>
          <a:p>
            <a:fld id="{F47C38A6-411E-4AB3-AA9A-88D68F1DC9B3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13" name="Oval 12"/>
          <p:cNvSpPr/>
          <p:nvPr/>
        </p:nvSpPr>
        <p:spPr>
          <a:xfrm>
            <a:off x="1412748" y="1828800"/>
            <a:ext cx="1508760" cy="1508760"/>
          </a:xfrm>
          <a:prstGeom prst="ellipse">
            <a:avLst/>
          </a:prstGeom>
          <a:solidFill>
            <a:srgbClr val="D50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Wind farm siting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886" y="2025395"/>
            <a:ext cx="1116482" cy="111648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4048" y="3611880"/>
            <a:ext cx="35661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dirty="0">
                <a:solidFill>
                  <a:srgbClr val="D50071"/>
                </a:solidFill>
                <a:latin typeface="Arial"/>
              </a:rPr>
              <a:t>Wind farm siting</a:t>
            </a:r>
          </a:p>
          <a:p>
            <a:pPr algn="ctr">
              <a:spcAft>
                <a:spcPts val="400"/>
              </a:spcAft>
            </a:pPr>
            <a:r>
              <a:rPr sz="2200" b="0" dirty="0">
                <a:solidFill>
                  <a:srgbClr val="2B2B3A"/>
                </a:solidFill>
                <a:latin typeface="Arial"/>
              </a:rPr>
              <a:t>Survey candidate sites before building a </a:t>
            </a:r>
            <a:r>
              <a:rPr lang="en-US" sz="2200" b="0" dirty="0">
                <a:solidFill>
                  <a:srgbClr val="2B2B3A"/>
                </a:solidFill>
                <a:latin typeface="Arial"/>
              </a:rPr>
              <a:t>wind turbine</a:t>
            </a:r>
            <a:endParaRPr sz="2200" b="0" dirty="0">
              <a:solidFill>
                <a:srgbClr val="2B2B3A"/>
              </a:solidFill>
              <a:latin typeface="Arial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253228" y="1828800"/>
            <a:ext cx="1508760" cy="1508760"/>
          </a:xfrm>
          <a:prstGeom prst="ellipse">
            <a:avLst/>
          </a:prstGeom>
          <a:solidFill>
            <a:srgbClr val="922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Urban win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9366" y="2025395"/>
            <a:ext cx="1116482" cy="111648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24528" y="3611880"/>
            <a:ext cx="35661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dirty="0">
                <a:solidFill>
                  <a:srgbClr val="9226B2"/>
                </a:solidFill>
                <a:latin typeface="Arial"/>
              </a:rPr>
              <a:t>Urban wind</a:t>
            </a:r>
          </a:p>
          <a:p>
            <a:pPr algn="ctr">
              <a:spcAft>
                <a:spcPts val="400"/>
              </a:spcAft>
            </a:pPr>
            <a:r>
              <a:rPr lang="en-US" sz="2200" b="0" dirty="0">
                <a:solidFill>
                  <a:srgbClr val="2B2B3A"/>
                </a:solidFill>
                <a:latin typeface="Arial"/>
              </a:rPr>
              <a:t>Measure</a:t>
            </a:r>
            <a:r>
              <a:rPr sz="2200" b="0" dirty="0">
                <a:solidFill>
                  <a:srgbClr val="2B2B3A"/>
                </a:solidFill>
                <a:latin typeface="Arial"/>
              </a:rPr>
              <a:t> airflow between city buildings</a:t>
            </a:r>
          </a:p>
        </p:txBody>
      </p:sp>
      <p:sp>
        <p:nvSpPr>
          <p:cNvPr id="19" name="Oval 18"/>
          <p:cNvSpPr/>
          <p:nvPr/>
        </p:nvSpPr>
        <p:spPr>
          <a:xfrm>
            <a:off x="9093708" y="1828800"/>
            <a:ext cx="1508760" cy="1508760"/>
          </a:xfrm>
          <a:prstGeom prst="ellipse">
            <a:avLst/>
          </a:prstGeom>
          <a:solidFill>
            <a:srgbClr val="211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Turbine wake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9846" y="2025395"/>
            <a:ext cx="1116482" cy="111648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065008" y="3611880"/>
            <a:ext cx="35661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21135F"/>
                </a:solidFill>
                <a:latin typeface="Arial"/>
              </a:rPr>
              <a:t>Turbine wakes</a:t>
            </a:r>
          </a:p>
          <a:p>
            <a:pPr algn="ctr">
              <a:spcAft>
                <a:spcPts val="400"/>
              </a:spcAft>
            </a:pPr>
            <a:r>
              <a:rPr sz="2200" b="0">
                <a:solidFill>
                  <a:srgbClr val="2B2B3A"/>
                </a:solidFill>
                <a:latin typeface="Arial"/>
              </a:rPr>
              <a:t>Measure flow behind working turbines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6A11B-5E25-5CFD-BEA8-174EF5417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684226-38C3-C65F-0894-02693A2CA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Annual Laidlaw Scholars Conference 2026: Ambitious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87385-0796-705C-9BDB-13F383D78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7C38A6-411E-4AB3-AA9A-88D68F1DC9B3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5" name="References col 1"/>
          <p:cNvSpPr txBox="1"/>
          <p:nvPr/>
        </p:nvSpPr>
        <p:spPr>
          <a:xfrm>
            <a:off x="411480" y="14630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1135F"/>
                </a:solidFill>
                <a:latin typeface="Arial"/>
              </a:rPr>
              <a:t>Sources</a:t>
            </a:r>
          </a:p>
          <a:p>
            <a:pPr marL="320040" indent="-320040">
              <a:spcAft>
                <a:spcPts val="700"/>
              </a:spcAft>
            </a:pPr>
            <a:r>
              <a:rPr i="0" sz="1200">
                <a:solidFill>
                  <a:srgbClr val="2B2B3A"/>
                </a:solidFill>
                <a:latin typeface="Arial"/>
              </a:rPr>
              <a:t>European Wind Energy Association. (2009). </a:t>
            </a:r>
            <a:r>
              <a:rPr i="1" sz="1200">
                <a:solidFill>
                  <a:srgbClr val="2B2B3A"/>
                </a:solidFill>
                <a:latin typeface="Arial"/>
              </a:rPr>
              <a:t>Wind energy – the facts: Measurement offshore</a:t>
            </a:r>
            <a:r>
              <a:rPr i="0" sz="1200">
                <a:solidFill>
                  <a:srgbClr val="2B2B3A"/>
                </a:solidFill>
                <a:latin typeface="Arial"/>
              </a:rPr>
              <a:t>. https://wind-energy-the-facts.org/measurement-offshore.html</a:t>
            </a:r>
          </a:p>
          <a:p>
            <a:pPr marL="320040" indent="-320040">
              <a:spcAft>
                <a:spcPts val="700"/>
              </a:spcAft>
            </a:pPr>
            <a:r>
              <a:rPr i="0" sz="1200">
                <a:solidFill>
                  <a:srgbClr val="2B2B3A"/>
                </a:solidFill>
                <a:latin typeface="Arial"/>
              </a:rPr>
              <a:t>Global Wind Energy Council. (2026). </a:t>
            </a:r>
            <a:r>
              <a:rPr i="1" sz="1200">
                <a:solidFill>
                  <a:srgbClr val="2B2B3A"/>
                </a:solidFill>
                <a:latin typeface="Arial"/>
              </a:rPr>
              <a:t>Global wind report 2026</a:t>
            </a:r>
            <a:r>
              <a:rPr i="0" sz="1200">
                <a:solidFill>
                  <a:srgbClr val="2B2B3A"/>
                </a:solidFill>
                <a:latin typeface="Arial"/>
              </a:rPr>
              <a:t>. GWEC. https://www.gwec.net</a:t>
            </a:r>
          </a:p>
          <a:p>
            <a:pPr marL="320040" indent="-320040">
              <a:spcAft>
                <a:spcPts val="700"/>
              </a:spcAft>
            </a:pPr>
            <a:r>
              <a:rPr i="0" sz="1200">
                <a:solidFill>
                  <a:srgbClr val="2B2B3A"/>
                </a:solidFill>
                <a:latin typeface="Arial"/>
              </a:rPr>
              <a:t>Kistner, J., Neuhaus, L., &amp; Wildmann, N. (2024). High-resolution wind speed measurements with quadcopter uncrewed aerial systems: Calibration and verification in a wind tunnel with an active grid. </a:t>
            </a:r>
            <a:r>
              <a:rPr i="1" sz="1200">
                <a:solidFill>
                  <a:srgbClr val="2B2B3A"/>
                </a:solidFill>
                <a:latin typeface="Arial"/>
              </a:rPr>
              <a:t>Atmospheric Measurement Techniques, 17</a:t>
            </a:r>
            <a:r>
              <a:rPr i="0" sz="1200">
                <a:solidFill>
                  <a:srgbClr val="2B2B3A"/>
                </a:solidFill>
                <a:latin typeface="Arial"/>
              </a:rPr>
              <a:t>, 4941–4955. https://doi.org/10.5194/amt-17-4941-2024</a:t>
            </a:r>
          </a:p>
          <a:p>
            <a:pPr marL="320040" indent="-320040">
              <a:spcAft>
                <a:spcPts val="700"/>
              </a:spcAft>
            </a:pPr>
            <a:r>
              <a:rPr i="0" sz="1200">
                <a:solidFill>
                  <a:srgbClr val="2B2B3A"/>
                </a:solidFill>
                <a:latin typeface="Arial"/>
              </a:rPr>
              <a:t>Sriyasawin, K., Sumpavakup, C., &amp; Sridech, W. (2024). Design and development of multirotor mounted with 3D ultrasonic anemometer for wind assessment. </a:t>
            </a:r>
            <a:r>
              <a:rPr i="1" sz="1200">
                <a:solidFill>
                  <a:srgbClr val="2B2B3A"/>
                </a:solidFill>
                <a:latin typeface="Arial"/>
              </a:rPr>
              <a:t>Applied Mechanics and Materials, 923</a:t>
            </a:r>
            <a:r>
              <a:rPr i="0" sz="1200">
                <a:solidFill>
                  <a:srgbClr val="2B2B3A"/>
                </a:solidFill>
                <a:latin typeface="Arial"/>
              </a:rPr>
              <a:t>, 11–17. https://doi.org/10.4028/p-vf7qud</a:t>
            </a:r>
          </a:p>
          <a:p>
            <a:pPr marL="320040" indent="-320040">
              <a:spcAft>
                <a:spcPts val="700"/>
              </a:spcAft>
            </a:pPr>
            <a:r>
              <a:rPr i="0" sz="1200">
                <a:solidFill>
                  <a:srgbClr val="2B2B3A"/>
                </a:solidFill>
                <a:latin typeface="Arial"/>
              </a:rPr>
              <a:t>Yang, Y., Zhang, Y., Han, T., Xie, C., Liu, Y., Huang, Y., Zhou, J., Sun, H., Zhao, D., Zhang, K., &amp; Li, S.-M. (2025). A correction algorithm for rotor-induced airflow and flight attitude changes during three-dimensional wind speed measurements made from a rotary unoccupied aerial vehicle. </a:t>
            </a:r>
            <a:r>
              <a:rPr i="1" sz="1200">
                <a:solidFill>
                  <a:srgbClr val="2B2B3A"/>
                </a:solidFill>
                <a:latin typeface="Arial"/>
              </a:rPr>
              <a:t>Atmospheric Measurement Techniques, 18</a:t>
            </a:r>
            <a:r>
              <a:rPr i="0" sz="1200">
                <a:solidFill>
                  <a:srgbClr val="2B2B3A"/>
                </a:solidFill>
                <a:latin typeface="Arial"/>
              </a:rPr>
              <a:t>, 3035–3050. https://doi.org/10.5194/amt-18-3035-2025</a:t>
            </a:r>
          </a:p>
        </p:txBody>
      </p:sp>
      <p:sp>
        <p:nvSpPr>
          <p:cNvPr id="6" name="References col 2"/>
          <p:cNvSpPr txBox="1"/>
          <p:nvPr/>
        </p:nvSpPr>
        <p:spPr>
          <a:xfrm>
            <a:off x="6172200" y="14630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1135F"/>
                </a:solidFill>
                <a:latin typeface="Arial"/>
              </a:rPr>
              <a:t>Images</a:t>
            </a:r>
          </a:p>
          <a:p>
            <a:pPr marL="320040" indent="-320040">
              <a:spcAft>
                <a:spcPts val="700"/>
              </a:spcAft>
            </a:pPr>
            <a:r>
              <a:rPr lang="en-US" sz="1200" b="0" i="0" dirty="0">
                <a:solidFill>
                  <a:srgbClr val="2B2B3A"/>
                </a:solidFill>
                <a:effectLst/>
                <a:latin typeface="Arial"/>
              </a:rPr>
              <a:t>Cheung, C. (2025, July 29). </a:t>
            </a:r>
            <a:r>
              <a:rPr lang="en-US" sz="1200" b="0" i="1" dirty="0">
                <a:solidFill>
                  <a:srgbClr val="2B2B3A"/>
                </a:solidFill>
                <a:effectLst/>
                <a:latin typeface="Arial"/>
              </a:rPr>
              <a:t>Hong Kong ranked as the city with the most skyscrapers in the world</a:t>
            </a:r>
            <a:r>
              <a:rPr lang="en-US" sz="1200" b="0" i="0" dirty="0">
                <a:solidFill>
                  <a:srgbClr val="2B2B3A"/>
                </a:solidFill>
                <a:effectLst/>
                <a:latin typeface="Arial"/>
              </a:rPr>
              <a:t>. Time Out Hong Kong; Time Out. https://www.timeout.com/hong-kong/news/hong-kong-has-the-most-skyscrapers-in-the-world-with-asian-cities-dominating-the-top-10-072925</a:t>
            </a:r>
          </a:p>
          <a:p>
            <a:pPr marL="320040" indent="-320040">
              <a:spcAft>
                <a:spcPts val="700"/>
              </a:spcAft>
            </a:pPr>
            <a:r>
              <a:rPr lang="en-US" sz="1200" b="0" i="0" dirty="0">
                <a:solidFill>
                  <a:srgbClr val="2B2B3A"/>
                </a:solidFill>
                <a:effectLst/>
                <a:latin typeface="Arial"/>
              </a:rPr>
              <a:t>Chu, J., &amp; MIT News Office. (2022, December). </a:t>
            </a:r>
            <a:r>
              <a:rPr lang="en-US" sz="1200" b="0" i="1" dirty="0">
                <a:solidFill>
                  <a:srgbClr val="2B2B3A"/>
                </a:solidFill>
                <a:effectLst/>
                <a:latin typeface="Arial"/>
              </a:rPr>
              <a:t>A healthy wind</a:t>
            </a:r>
            <a:r>
              <a:rPr lang="en-US" sz="1200" b="0" i="0" dirty="0">
                <a:solidFill>
                  <a:srgbClr val="2B2B3A"/>
                </a:solidFill>
                <a:effectLst/>
                <a:latin typeface="Arial"/>
              </a:rPr>
              <a:t>. MIT News | Massachusetts Institute of Technology. https://news.mit.edu/2022/wind-health-impact-1202</a:t>
            </a:r>
          </a:p>
          <a:p>
            <a:pPr marL="320040" indent="-320040">
              <a:spcAft>
                <a:spcPts val="700"/>
              </a:spcAft>
            </a:pPr>
            <a:r>
              <a:rPr lang="en-US" sz="1200" b="0" i="0" dirty="0">
                <a:solidFill>
                  <a:srgbClr val="2B2B3A"/>
                </a:solidFill>
                <a:effectLst/>
                <a:latin typeface="Arial"/>
              </a:rPr>
              <a:t>Froese, M. (2017, July 13). </a:t>
            </a:r>
            <a:r>
              <a:rPr lang="en-US" sz="1200" b="0" i="1" dirty="0">
                <a:solidFill>
                  <a:srgbClr val="2B2B3A"/>
                </a:solidFill>
                <a:effectLst/>
                <a:latin typeface="Arial"/>
              </a:rPr>
              <a:t>RK Systems designs India’s tallest lattice met tower</a:t>
            </a:r>
            <a:r>
              <a:rPr lang="en-US" sz="1200" b="0" i="0" dirty="0">
                <a:solidFill>
                  <a:srgbClr val="2B2B3A"/>
                </a:solidFill>
                <a:effectLst/>
                <a:latin typeface="Arial"/>
              </a:rPr>
              <a:t>. Windpower Engineering &amp; Development. https://www.windpowerengineering.com/rk-systems-designs-indias-tallest-lattice-met-tower/</a:t>
            </a:r>
          </a:p>
          <a:p>
            <a:pPr marL="320040" indent="-320040">
              <a:spcAft>
                <a:spcPts val="700"/>
              </a:spcAft>
            </a:pPr>
            <a:r>
              <a:rPr lang="en-US" sz="1200" b="0" i="0">
                <a:solidFill>
                  <a:srgbClr val="2B2B3A"/>
                </a:solidFill>
                <a:effectLst/>
                <a:latin typeface="Arial"/>
              </a:rPr>
              <a:t>Juniper, A. </a:t>
            </a:r>
            <a:r>
              <a:rPr lang="en-US" sz="1200" b="0" i="0" dirty="0">
                <a:solidFill>
                  <a:srgbClr val="2B2B3A"/>
                </a:solidFill>
                <a:effectLst/>
                <a:latin typeface="Arial"/>
              </a:rPr>
              <a:t>(2022, October 24). </a:t>
            </a:r>
            <a:r>
              <a:rPr lang="en-US" sz="1200" b="0" i="1" dirty="0">
                <a:solidFill>
                  <a:srgbClr val="2B2B3A"/>
                </a:solidFill>
                <a:effectLst/>
                <a:latin typeface="Arial"/>
              </a:rPr>
              <a:t>The best camera drones in 2026: take your photography &amp; video to the skies</a:t>
            </a:r>
            <a:r>
              <a:rPr lang="en-US" sz="1200" b="0" i="0" dirty="0">
                <a:solidFill>
                  <a:srgbClr val="2B2B3A"/>
                </a:solidFill>
                <a:effectLst/>
                <a:latin typeface="Arial"/>
              </a:rPr>
              <a:t>. Digital Camera World. https://www.digitalcameraworld.com/buying-guides/the-10-best-camera-drones</a:t>
            </a:r>
          </a:p>
        </p:txBody>
      </p:sp>
    </p:spTree>
    <p:extLst>
      <p:ext uri="{BB962C8B-B14F-4D97-AF65-F5344CB8AC3E}">
        <p14:creationId xmlns:p14="http://schemas.microsoft.com/office/powerpoint/2010/main" val="2493895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/>
          <p:cNvSpPr txBox="1">
            <a:spLocks/>
          </p:cNvSpPr>
          <p:nvPr/>
        </p:nvSpPr>
        <p:spPr>
          <a:xfrm>
            <a:off x="1775488" y="1051393"/>
            <a:ext cx="8568000" cy="381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2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23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2pPr>
            <a:lvl3pPr marL="0" indent="0" algn="l" defTabSz="914423" rtl="0" eaLnBrk="1" latinLnBrk="0" hangingPunct="1">
              <a:lnSpc>
                <a:spcPct val="100000"/>
              </a:lnSpc>
              <a:spcBef>
                <a:spcPts val="0"/>
              </a:spcBef>
              <a:buSzPct val="105000"/>
              <a:buFont typeface="Palatino Linotype" panose="02040502050505030304" pitchFamily="18" charset="0"/>
              <a:buNone/>
              <a:defRPr sz="16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252000" indent="-270000" algn="l" defTabSz="914423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Font typeface="Arial" panose="020B0604020202020204" pitchFamily="34" charset="0"/>
              <a:buChar char="&gt;"/>
              <a:defRPr sz="1600" kern="1200" baseline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450000" indent="-179388" algn="l" defTabSz="914423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SzPct val="100000"/>
              <a:buFont typeface="Arial" panose="020B0604020202020204" pitchFamily="34" charset="0"/>
              <a:buChar char="-"/>
              <a:defRPr sz="16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23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i="1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23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3429086" indent="-228606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97" indent="-228606" algn="l" defTabSz="91442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5" algn="ctr">
              <a:spcAft>
                <a:spcPts val="800"/>
              </a:spcAft>
            </a:pPr>
            <a:r>
              <a:rPr lang="en-GB" sz="4800" b="1" i="0" dirty="0">
                <a:solidFill>
                  <a:schemeClr val="bg1"/>
                </a:solidFill>
              </a:rPr>
              <a:t>Thank you!</a:t>
            </a:r>
            <a:endParaRPr lang="en-GB" sz="1800" b="0" i="0" dirty="0">
              <a:solidFill>
                <a:srgbClr val="C9C6DA"/>
              </a:solidFill>
            </a:endParaRPr>
          </a:p>
          <a:p>
            <a:pPr lvl="5" algn="ctr"/>
            <a:endParaRPr lang="en-GB" sz="1800" b="0" i="0" dirty="0">
              <a:solidFill>
                <a:srgbClr val="C9C6DA"/>
              </a:solidFill>
            </a:endParaRPr>
          </a:p>
          <a:p>
            <a:pPr lvl="5" algn="ctr"/>
            <a:endParaRPr lang="en-GB" sz="1800" b="0" i="0" dirty="0">
              <a:solidFill>
                <a:srgbClr val="C9C6DA"/>
              </a:solidFill>
            </a:endParaRPr>
          </a:p>
          <a:p>
            <a:pPr lvl="5" algn="ctr"/>
            <a:r>
              <a:rPr lang="en-GB" sz="1800" b="0" i="0" dirty="0">
                <a:solidFill>
                  <a:srgbClr val="C9C6DA"/>
                </a:solidFill>
              </a:rPr>
              <a:t>Acknowledgements: Prof. C. H. Liu and the Faculty of Engineering,</a:t>
            </a:r>
            <a:br>
              <a:rPr lang="en-GB" sz="1800" b="0" i="0" dirty="0">
                <a:solidFill>
                  <a:srgbClr val="C9C6DA"/>
                </a:solidFill>
              </a:rPr>
            </a:br>
            <a:r>
              <a:rPr lang="en-GB" sz="1800" b="0" i="0" dirty="0">
                <a:solidFill>
                  <a:srgbClr val="C9C6DA"/>
                </a:solidFill>
              </a:rPr>
              <a:t>The University of Hong Kong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662994-C776-6593-3320-98F5895601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3063" y="6272666"/>
            <a:ext cx="4948452" cy="262712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Annual Laidlaw Scholars Conference 2026: Ambitious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2B61B0-13A6-C9B7-9239-6DD342134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4910" y="6272665"/>
            <a:ext cx="594784" cy="26271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accent6"/>
                </a:solidFill>
              </a:defRPr>
            </a:lvl1pPr>
          </a:lstStyle>
          <a:p>
            <a:fld id="{F47C38A6-411E-4AB3-AA9A-88D68F1DC9B3}" type="slidenum">
              <a:rPr lang="en-GB" smtClean="0"/>
              <a:pPr/>
              <a:t>8</a:t>
            </a:fld>
            <a:endParaRPr lang="en-GB" dirty="0"/>
          </a:p>
        </p:txBody>
      </p:sp>
      <p:pic>
        <p:nvPicPr>
          <p:cNvPr id="3" name="Picture 2" descr="QR code linking to supporting materials, including the full research report">
            <a:extLst>
              <a:ext uri="{FF2B5EF4-FFF2-40B4-BE49-F238E27FC236}">
                <a16:creationId xmlns:a16="http://schemas.microsoft.com/office/drawing/2014/main" id="{8C2013D1-BF62-29ED-8D61-EFD00A0B6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800" y="4460823"/>
            <a:ext cx="14224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913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aidlaw_Foundation">
      <a:dk1>
        <a:sysClr val="windowText" lastClr="000000"/>
      </a:dk1>
      <a:lt1>
        <a:srgbClr val="FFFFFF"/>
      </a:lt1>
      <a:dk2>
        <a:srgbClr val="9226B2"/>
      </a:dk2>
      <a:lt2>
        <a:srgbClr val="FF5012"/>
      </a:lt2>
      <a:accent1>
        <a:srgbClr val="21135F"/>
      </a:accent1>
      <a:accent2>
        <a:srgbClr val="0074C8"/>
      </a:accent2>
      <a:accent3>
        <a:srgbClr val="009483"/>
      </a:accent3>
      <a:accent4>
        <a:srgbClr val="3DAF2C"/>
      </a:accent4>
      <a:accent5>
        <a:srgbClr val="D50071"/>
      </a:accent5>
      <a:accent6>
        <a:srgbClr val="9CA299"/>
      </a:accent6>
      <a:hlink>
        <a:srgbClr val="9226B2"/>
      </a:hlink>
      <a:folHlink>
        <a:srgbClr val="FF501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>
          <a:defRPr sz="1100" dirty="0" smtClean="0">
            <a:solidFill>
              <a:schemeClr val="accent3"/>
            </a:solidFill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002ED602-45B2-1144-941B-0D3FB5C1F336}" vid="{1D28BF10-AF85-EF49-923F-1EBD714F2D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5459F66-8A6C-4B23-8CD8-BB2EB5EF8CC1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ea7a2db-394b-470d-ad86-d64dab473d1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597</TotalTime>
  <Words>597</Words>
  <Application>Microsoft Office PowerPoint</Application>
  <PresentationFormat>Widescreen</PresentationFormat>
  <Paragraphs>88</Paragraphs>
  <Slides>8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Play</vt:lpstr>
      <vt:lpstr>Arial</vt:lpstr>
      <vt:lpstr>Times New Roman</vt:lpstr>
      <vt:lpstr>Wingdings</vt:lpstr>
      <vt:lpstr>Office Theme</vt:lpstr>
      <vt:lpstr>Mapping the Wind</vt:lpstr>
      <vt:lpstr>Wind Data Drives Critical Decisions</vt:lpstr>
      <vt:lpstr>Introduction</vt:lpstr>
      <vt:lpstr>Method</vt:lpstr>
      <vt:lpstr>Results</vt:lpstr>
      <vt:lpstr>Applications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Andersson</dc:creator>
  <cp:lastModifiedBy>ghkim1106@connect.hku.hk</cp:lastModifiedBy>
  <cp:revision>10</cp:revision>
  <dcterms:created xsi:type="dcterms:W3CDTF">2026-10-02T12:11:07Z</dcterms:created>
  <dcterms:modified xsi:type="dcterms:W3CDTF">2026-10-18T10:38:19Z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892378</vt:lpwstr>
  </property>
  <property fmtid="{D5CDD505-2E9C-101B-9397-08002B2CF9AE}" pid="3" name="NXPowerLiteSettings">
    <vt:lpwstr>874006B004C800</vt:lpwstr>
  </property>
  <property fmtid="{D5CDD505-2E9C-101B-9397-08002B2CF9AE}" pid="4" name="NXPowerLiteVersion">
    <vt:lpwstr>D7.1.5</vt:lpwstr>
  </property>
</Properties>
</file>